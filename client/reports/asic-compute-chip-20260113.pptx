
<file path=[Content_Types].xml><?xml version="1.0" encoding="utf-8"?>
<Types xmlns="http://schemas.openxmlformats.org/package/2006/content-types">
  <Default Extension="jpeg" ContentType="image/jpeg"/>
  <Default Extension="JPG" ContentType="image/.jpg"/>
  <Default Extension="png" ContentType="image/png"/>
  <Default Extension="wdp" ContentType="image/vnd.ms-photo"/>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0"/>
  </p:notesMasterIdLst>
  <p:sldIdLst>
    <p:sldId id="256" r:id="rId3"/>
    <p:sldId id="811" r:id="rId4"/>
    <p:sldId id="814" r:id="rId5"/>
    <p:sldId id="809" r:id="rId6"/>
    <p:sldId id="813" r:id="rId7"/>
    <p:sldId id="827" r:id="rId8"/>
    <p:sldId id="815" r:id="rId9"/>
    <p:sldId id="828" r:id="rId10"/>
    <p:sldId id="829" r:id="rId11"/>
    <p:sldId id="832" r:id="rId12"/>
    <p:sldId id="830" r:id="rId13"/>
    <p:sldId id="834" r:id="rId14"/>
    <p:sldId id="831" r:id="rId15"/>
    <p:sldId id="833" r:id="rId16"/>
    <p:sldId id="835" r:id="rId17"/>
    <p:sldId id="836" r:id="rId18"/>
    <p:sldId id="837" r:id="rId19"/>
    <p:sldId id="853" r:id="rId20"/>
    <p:sldId id="852" r:id="rId21"/>
    <p:sldId id="854" r:id="rId22"/>
    <p:sldId id="839" r:id="rId23"/>
    <p:sldId id="840" r:id="rId24"/>
    <p:sldId id="842" r:id="rId25"/>
    <p:sldId id="844" r:id="rId26"/>
    <p:sldId id="843" r:id="rId27"/>
    <p:sldId id="841" r:id="rId28"/>
    <p:sldId id="354" r:id="rId29"/>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7F7F7F"/>
    <a:srgbClr val="4472C4"/>
    <a:srgbClr val="01479D"/>
    <a:srgbClr val="C00000"/>
    <a:srgbClr val="FFFFFF"/>
    <a:srgbClr val="C79A51"/>
    <a:srgbClr val="C64323"/>
    <a:srgbClr val="FFF0DC"/>
    <a:srgbClr val="008BF8"/>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9875" autoAdjust="0"/>
    <p:restoredTop sz="94660"/>
  </p:normalViewPr>
  <p:slideViewPr>
    <p:cSldViewPr snapToGrid="0">
      <p:cViewPr varScale="1">
        <p:scale>
          <a:sx n="101" d="100"/>
          <a:sy n="101" d="100"/>
        </p:scale>
        <p:origin x="1080" y="6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3" Type="http://schemas.openxmlformats.org/officeDocument/2006/relationships/tableStyles" Target="tableStyles.xml"/><Relationship Id="rId32" Type="http://schemas.openxmlformats.org/officeDocument/2006/relationships/viewProps" Target="viewProps.xml"/><Relationship Id="rId31" Type="http://schemas.openxmlformats.org/officeDocument/2006/relationships/presProps" Target="presProps.xml"/><Relationship Id="rId30" Type="http://schemas.openxmlformats.org/officeDocument/2006/relationships/notesMaster" Target="notesMasters/notesMaster1.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D6FB5D1-DE1F-4109-9DAE-31ADC3B1DAA8}"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84C6980-7DBD-4772-A0A5-DFFBCFF0B3CC}"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3F6EA9BA-11B2-425E-AFAF-69A45F0CF37D}"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C9C09BE1-D06A-422F-B7FC-DDA757649A1C}"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3F6EA9BA-11B2-425E-AFAF-69A45F0CF37D}"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C9C09BE1-D06A-422F-B7FC-DDA757649A1C}"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fld id="{3F6EA9BA-11B2-425E-AFAF-69A45F0CF37D}"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C9C09BE1-D06A-422F-B7FC-DDA757649A1C}"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p>
            <a:fld id="{3F6EA9BA-11B2-425E-AFAF-69A45F0CF37D}"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C9C09BE1-D06A-422F-B7FC-DDA757649A1C}"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nvPr>
        </p:nvSpPr>
        <p:spPr/>
        <p:txBody>
          <a:bodyPr/>
          <a:lstStyle/>
          <a:p>
            <a:fld id="{3F6EA9BA-11B2-425E-AFAF-69A45F0CF37D}"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C9C09BE1-D06A-422F-B7FC-DDA757649A1C}"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3F6EA9BA-11B2-425E-AFAF-69A45F0CF37D}"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C9C09BE1-D06A-422F-B7FC-DDA757649A1C}"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3F6EA9BA-11B2-425E-AFAF-69A45F0CF37D}"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C9C09BE1-D06A-422F-B7FC-DDA757649A1C}"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3F6EA9BA-11B2-425E-AFAF-69A45F0CF37D}"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C9C09BE1-D06A-422F-B7FC-DDA757649A1C}"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3F6EA9BA-11B2-425E-AFAF-69A45F0CF37D}"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C9C09BE1-D06A-422F-B7FC-DDA757649A1C}"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3F6EA9BA-11B2-425E-AFAF-69A45F0CF37D}"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C9C09BE1-D06A-422F-B7FC-DDA757649A1C}"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3F6EA9BA-11B2-425E-AFAF-69A45F0CF37D}"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C9C09BE1-D06A-422F-B7FC-DDA757649A1C}"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F6EA9BA-11B2-425E-AFAF-69A45F0CF37D}"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9C09BE1-D06A-422F-B7FC-DDA757649A1C}"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image" Target="../media/image4.jpeg"/><Relationship Id="rId3" Type="http://schemas.microsoft.com/office/2007/relationships/hdphoto" Target="../media/image3.wdp"/><Relationship Id="rId2" Type="http://schemas.openxmlformats.org/officeDocument/2006/relationships/image" Target="../media/image2.png"/><Relationship Id="rId1" Type="http://schemas.openxmlformats.org/officeDocument/2006/relationships/image" Target="../media/image1.jpeg"/></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6.png"/></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10.png"/><Relationship Id="rId1" Type="http://schemas.openxmlformats.org/officeDocument/2006/relationships/image" Target="../media/image9.png"/></Relationships>
</file>

<file path=ppt/slides/_rels/slide7.xml.rels><?xml version="1.0" encoding="UTF-8" standalone="yes"?>
<Relationships xmlns="http://schemas.openxmlformats.org/package/2006/relationships"><Relationship Id="rId7" Type="http://schemas.openxmlformats.org/officeDocument/2006/relationships/slideLayout" Target="../slideLayouts/slideLayout1.xml"/><Relationship Id="rId6" Type="http://schemas.openxmlformats.org/officeDocument/2006/relationships/image" Target="../media/image16.png"/><Relationship Id="rId5" Type="http://schemas.openxmlformats.org/officeDocument/2006/relationships/image" Target="../media/image15.jpeg"/><Relationship Id="rId4" Type="http://schemas.openxmlformats.org/officeDocument/2006/relationships/image" Target="../media/image14.png"/><Relationship Id="rId3" Type="http://schemas.openxmlformats.org/officeDocument/2006/relationships/image" Target="../media/image13.png"/><Relationship Id="rId2" Type="http://schemas.openxmlformats.org/officeDocument/2006/relationships/image" Target="../media/image12.jpeg"/><Relationship Id="rId1" Type="http://schemas.openxmlformats.org/officeDocument/2006/relationships/image" Target="../media/image11.png"/></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7.png"/></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8.png"/></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20.png"/><Relationship Id="rId1" Type="http://schemas.openxmlformats.org/officeDocument/2006/relationships/image" Target="../media/image19.pn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21.png"/></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23.png"/><Relationship Id="rId1" Type="http://schemas.openxmlformats.org/officeDocument/2006/relationships/image" Target="../media/image22.png"/></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24.png"/></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2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27.png"/><Relationship Id="rId1" Type="http://schemas.openxmlformats.org/officeDocument/2006/relationships/image" Target="../media/image26.png"/></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28.png"/></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30.png"/><Relationship Id="rId1" Type="http://schemas.openxmlformats.org/officeDocument/2006/relationships/image" Target="../media/image29.png"/></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31.png"/></Relationships>
</file>

<file path=ppt/slides/_rels/slide20.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33.png"/><Relationship Id="rId1" Type="http://schemas.openxmlformats.org/officeDocument/2006/relationships/image" Target="../media/image32.png"/></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34.png"/></Relationships>
</file>

<file path=ppt/slides/_rels/slide22.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36.png"/><Relationship Id="rId1" Type="http://schemas.openxmlformats.org/officeDocument/2006/relationships/image" Target="../media/image35.png"/></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37.png"/></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38.png"/></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39.png"/></Relationships>
</file>

<file path=ppt/slides/_rels/slide26.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41.png"/><Relationship Id="rId1" Type="http://schemas.openxmlformats.org/officeDocument/2006/relationships/image" Target="../media/image40.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flipH="1">
            <a:off x="1930913" y="2137253"/>
            <a:ext cx="8330173" cy="921855"/>
          </a:xfrm>
          <a:prstGeom prst="rect">
            <a:avLst/>
          </a:prstGeom>
          <a:noFill/>
        </p:spPr>
        <p:txBody>
          <a:bodyPr wrap="square" rtlCol="0">
            <a:spAutoFit/>
          </a:bodyPr>
          <a:lstStyle/>
          <a:p>
            <a:pPr algn="ctr">
              <a:lnSpc>
                <a:spcPct val="150000"/>
              </a:lnSpc>
            </a:pPr>
            <a:r>
              <a:rPr lang="zh-CN" altLang="en-US" sz="4000" dirty="0"/>
              <a:t>算力芯片</a:t>
            </a:r>
            <a:r>
              <a:rPr lang="en-US" altLang="zh-CN" sz="4000" dirty="0"/>
              <a:t>ASIC</a:t>
            </a:r>
            <a:r>
              <a:rPr lang="zh-CN" altLang="en-US" sz="4000" dirty="0"/>
              <a:t>化带来的投资机会分析</a:t>
            </a:r>
            <a:endParaRPr lang="zh-CN" altLang="en-US" sz="4000" dirty="0"/>
          </a:p>
        </p:txBody>
      </p:sp>
      <p:sp>
        <p:nvSpPr>
          <p:cNvPr id="2" name="文本框 1"/>
          <p:cNvSpPr txBox="1"/>
          <p:nvPr/>
        </p:nvSpPr>
        <p:spPr>
          <a:xfrm>
            <a:off x="8305799" y="4940531"/>
            <a:ext cx="3525520" cy="922020"/>
          </a:xfrm>
          <a:prstGeom prst="rect">
            <a:avLst/>
          </a:prstGeom>
          <a:noFill/>
        </p:spPr>
        <p:txBody>
          <a:bodyPr wrap="none" rtlCol="0">
            <a:spAutoFit/>
          </a:bodyPr>
          <a:lstStyle/>
          <a:p>
            <a:pPr>
              <a:lnSpc>
                <a:spcPct val="150000"/>
              </a:lnSpc>
            </a:pPr>
            <a:r>
              <a:rPr lang="zh-CN" b="1" dirty="0"/>
              <a:t>陈治翰</a:t>
            </a:r>
            <a:r>
              <a:rPr lang="en-US" altLang="zh-CN" b="1" dirty="0"/>
              <a:t>  3230104233@zju.edu.cn</a:t>
            </a:r>
            <a:br>
              <a:rPr lang="en-US" altLang="zh-CN" b="1" dirty="0"/>
            </a:br>
            <a:r>
              <a:rPr lang="en-US" altLang="zh-CN" b="1" dirty="0"/>
              <a:t>                   2026/1/13</a:t>
            </a:r>
            <a:endParaRPr lang="zh-CN" altLang="en-US" b="1"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621472" y="1372676"/>
            <a:ext cx="2056216" cy="2911601"/>
          </a:xfrm>
          <a:prstGeom prst="rect">
            <a:avLst/>
          </a:prstGeom>
          <a:noFill/>
          <a:extLst>
            <a:ext uri="{909E8E84-426E-40DD-AFC4-6F175D3DCCD1}">
              <a14:hiddenFill xmlns:a14="http://schemas.microsoft.com/office/drawing/2010/main">
                <a:solidFill>
                  <a:srgbClr val="FFFFFF"/>
                </a:solidFill>
              </a14:hiddenFill>
            </a:ext>
          </a:extLst>
        </p:spPr>
      </p:pic>
      <p:sp>
        <p:nvSpPr>
          <p:cNvPr id="2" name="文本框 1"/>
          <p:cNvSpPr txBox="1"/>
          <p:nvPr/>
        </p:nvSpPr>
        <p:spPr>
          <a:xfrm flipH="1">
            <a:off x="224085" y="159798"/>
            <a:ext cx="4907207" cy="369332"/>
          </a:xfrm>
          <a:prstGeom prst="rect">
            <a:avLst/>
          </a:prstGeom>
          <a:noFill/>
        </p:spPr>
        <p:txBody>
          <a:bodyPr wrap="square" rtlCol="0">
            <a:spAutoFit/>
          </a:bodyPr>
          <a:lstStyle/>
          <a:p>
            <a:r>
              <a:rPr lang="zh-CN" altLang="en-US" b="1" dirty="0">
                <a:latin typeface="宋体" panose="02010600030101010101" pitchFamily="2" charset="-122"/>
                <a:ea typeface="宋体" panose="02010600030101010101" pitchFamily="2" charset="-122"/>
              </a:rPr>
              <a:t>数据中心芯片类型</a:t>
            </a:r>
            <a:endParaRPr lang="zh-CN" altLang="en-US" b="1" dirty="0">
              <a:latin typeface="宋体" panose="02010600030101010101" pitchFamily="2" charset="-122"/>
              <a:ea typeface="宋体" panose="02010600030101010101" pitchFamily="2" charset="-122"/>
            </a:endParaRPr>
          </a:p>
        </p:txBody>
      </p:sp>
      <p:sp>
        <p:nvSpPr>
          <p:cNvPr id="14" name="文本框 13"/>
          <p:cNvSpPr txBox="1"/>
          <p:nvPr/>
        </p:nvSpPr>
        <p:spPr>
          <a:xfrm>
            <a:off x="224085" y="593846"/>
            <a:ext cx="11648496" cy="923330"/>
          </a:xfrm>
          <a:prstGeom prst="rect">
            <a:avLst/>
          </a:prstGeom>
          <a:noFill/>
        </p:spPr>
        <p:txBody>
          <a:bodyPr wrap="square">
            <a:spAutoFit/>
          </a:bodyPr>
          <a:lstStyle/>
          <a:p>
            <a:pPr marL="285750" indent="-285750">
              <a:buFont typeface="Wingdings" panose="05000000000000000000" pitchFamily="2" charset="2"/>
              <a:buChar char="u"/>
            </a:pPr>
            <a:r>
              <a:rPr lang="zh-CN" altLang="en-US" dirty="0">
                <a:ea typeface="+mn-lt"/>
                <a:cs typeface="+mn-lt"/>
              </a:rPr>
              <a:t>平时经常听到的数据中心芯片主要有</a:t>
            </a:r>
            <a:r>
              <a:rPr lang="en-US" altLang="zh-CN" dirty="0">
                <a:ea typeface="+mn-lt"/>
                <a:cs typeface="+mn-lt"/>
              </a:rPr>
              <a:t>CPU</a:t>
            </a:r>
            <a:r>
              <a:rPr lang="zh-CN" altLang="en-US" dirty="0">
                <a:ea typeface="+mn-lt"/>
                <a:cs typeface="+mn-lt"/>
              </a:rPr>
              <a:t>和</a:t>
            </a:r>
            <a:r>
              <a:rPr lang="en-US" altLang="zh-CN" dirty="0">
                <a:ea typeface="+mn-lt"/>
                <a:cs typeface="+mn-lt"/>
              </a:rPr>
              <a:t>GPU</a:t>
            </a:r>
            <a:r>
              <a:rPr lang="zh-CN" altLang="en-US" dirty="0">
                <a:ea typeface="+mn-lt"/>
                <a:cs typeface="+mn-lt"/>
              </a:rPr>
              <a:t>，两者工作原理不同，分工也不同。</a:t>
            </a:r>
            <a:endParaRPr lang="en-US" altLang="zh-CN" dirty="0">
              <a:ea typeface="+mn-lt"/>
              <a:cs typeface="+mn-lt"/>
            </a:endParaRPr>
          </a:p>
          <a:p>
            <a:pPr marL="285750" indent="-285750">
              <a:buFont typeface="Wingdings" panose="05000000000000000000" pitchFamily="2" charset="2"/>
              <a:buChar char="u"/>
            </a:pPr>
            <a:r>
              <a:rPr lang="en-US" altLang="zh-CN" dirty="0">
                <a:ea typeface="+mn-lt"/>
                <a:cs typeface="+mn-lt"/>
              </a:rPr>
              <a:t>CPU</a:t>
            </a:r>
            <a:r>
              <a:rPr lang="zh-CN" altLang="en-US" dirty="0">
                <a:ea typeface="+mn-lt"/>
                <a:cs typeface="+mn-lt"/>
              </a:rPr>
              <a:t>核心数较少，但单个核心强大，擅长复杂的逻辑控制和串行任务；</a:t>
            </a:r>
            <a:r>
              <a:rPr lang="en-US" altLang="zh-CN" dirty="0">
                <a:ea typeface="+mn-lt"/>
                <a:cs typeface="+mn-lt"/>
              </a:rPr>
              <a:t>GPU</a:t>
            </a:r>
            <a:r>
              <a:rPr lang="zh-CN" altLang="en-US" dirty="0">
                <a:ea typeface="+mn-lt"/>
                <a:cs typeface="+mn-lt"/>
              </a:rPr>
              <a:t>核心数多，但单个核心较弱，擅长并行计算，适合处理图像渲染、深度学习训练等任务。</a:t>
            </a:r>
            <a:r>
              <a:rPr lang="en-US" altLang="zh-CN" dirty="0">
                <a:ea typeface="+mn-lt"/>
                <a:cs typeface="+mn-lt"/>
              </a:rPr>
              <a:t>CPU</a:t>
            </a:r>
            <a:r>
              <a:rPr lang="zh-CN" altLang="en-US" dirty="0">
                <a:ea typeface="+mn-lt"/>
                <a:cs typeface="+mn-lt"/>
              </a:rPr>
              <a:t>保证电脑能用，</a:t>
            </a:r>
            <a:r>
              <a:rPr lang="en-US" altLang="zh-CN" dirty="0">
                <a:ea typeface="+mn-lt"/>
                <a:cs typeface="+mn-lt"/>
              </a:rPr>
              <a:t>GPU</a:t>
            </a:r>
            <a:r>
              <a:rPr lang="zh-CN" altLang="en-US" dirty="0">
                <a:ea typeface="+mn-lt"/>
                <a:cs typeface="+mn-lt"/>
              </a:rPr>
              <a:t>让电脑算得更快。</a:t>
            </a:r>
            <a:endParaRPr lang="zh-CN" altLang="en-US" dirty="0">
              <a:ea typeface="+mn-lt"/>
              <a:cs typeface="+mn-lt"/>
            </a:endParaRPr>
          </a:p>
        </p:txBody>
      </p:sp>
      <p:pic>
        <p:nvPicPr>
          <p:cNvPr id="1028" name="Picture 4"/>
          <p:cNvPicPr>
            <a:picLocks noChangeAspect="1" noChangeArrowheads="1"/>
          </p:cNvPicPr>
          <p:nvPr/>
        </p:nvPicPr>
        <p:blipFill>
          <a:blip r:embed="rId2">
            <a:extLst>
              <a:ext uri="{BEBA8EAE-BF5A-486C-A8C5-ECC9F3942E4B}">
                <a14:imgProps xmlns:a14="http://schemas.microsoft.com/office/drawing/2010/main">
                  <a14:imgLayer r:embed="rId3">
                    <a14:imgEffect>
                      <a14:brightnessContrast bright="20000" contrast="-40000"/>
                    </a14:imgEffect>
                  </a14:imgLayer>
                </a14:imgProps>
              </a:ext>
              <a:ext uri="{28A0092B-C50C-407E-A947-70E740481C1C}">
                <a14:useLocalDpi xmlns:a14="http://schemas.microsoft.com/office/drawing/2010/main" val="0"/>
              </a:ext>
            </a:extLst>
          </a:blip>
          <a:srcRect/>
          <a:stretch>
            <a:fillRect/>
          </a:stretch>
        </p:blipFill>
        <p:spPr bwMode="auto">
          <a:xfrm>
            <a:off x="601703" y="4139776"/>
            <a:ext cx="2477883" cy="2477883"/>
          </a:xfrm>
          <a:prstGeom prst="rect">
            <a:avLst/>
          </a:prstGeom>
          <a:noFill/>
          <a:extLst>
            <a:ext uri="{909E8E84-426E-40DD-AFC4-6F175D3DCCD1}">
              <a14:hiddenFill xmlns:a14="http://schemas.microsoft.com/office/drawing/2010/main">
                <a:solidFill>
                  <a:srgbClr val="FFFFFF"/>
                </a:solidFill>
              </a14:hiddenFill>
            </a:ext>
          </a:extLst>
        </p:spPr>
      </p:pic>
      <p:sp>
        <p:nvSpPr>
          <p:cNvPr id="3" name="文本框 2"/>
          <p:cNvSpPr txBox="1"/>
          <p:nvPr/>
        </p:nvSpPr>
        <p:spPr>
          <a:xfrm>
            <a:off x="3411233" y="1923557"/>
            <a:ext cx="1627369" cy="1677511"/>
          </a:xfrm>
          <a:prstGeom prst="rect">
            <a:avLst/>
          </a:prstGeom>
          <a:noFill/>
        </p:spPr>
        <p:txBody>
          <a:bodyPr wrap="none" rtlCol="0">
            <a:spAutoFit/>
          </a:bodyPr>
          <a:lstStyle/>
          <a:p>
            <a:pPr>
              <a:lnSpc>
                <a:spcPct val="200000"/>
              </a:lnSpc>
            </a:pPr>
            <a:r>
              <a:rPr lang="en-US" altLang="zh-CN" b="1" dirty="0">
                <a:latin typeface="楷体" panose="02010609060101010101" pitchFamily="49" charset="-122"/>
                <a:ea typeface="楷体" panose="02010609060101010101" pitchFamily="49" charset="-122"/>
              </a:rPr>
              <a:t>CPU</a:t>
            </a:r>
            <a:r>
              <a:rPr lang="zh-CN" altLang="en-US" b="1" dirty="0">
                <a:latin typeface="楷体" panose="02010609060101010101" pitchFamily="49" charset="-122"/>
                <a:ea typeface="楷体" panose="02010609060101010101" pitchFamily="49" charset="-122"/>
              </a:rPr>
              <a:t>：大力士</a:t>
            </a:r>
            <a:endParaRPr lang="en-US" altLang="zh-CN" b="1" dirty="0">
              <a:latin typeface="楷体" panose="02010609060101010101" pitchFamily="49" charset="-122"/>
              <a:ea typeface="楷体" panose="02010609060101010101" pitchFamily="49" charset="-122"/>
            </a:endParaRPr>
          </a:p>
          <a:p>
            <a:pPr marL="285750" indent="-285750">
              <a:lnSpc>
                <a:spcPct val="200000"/>
              </a:lnSpc>
              <a:buFont typeface="Arial" panose="020B0604020202020204" pitchFamily="34" charset="0"/>
              <a:buChar char="•"/>
            </a:pPr>
            <a:r>
              <a:rPr lang="zh-CN" altLang="en-US" dirty="0">
                <a:latin typeface="楷体" panose="02010609060101010101" pitchFamily="49" charset="-122"/>
                <a:ea typeface="楷体" panose="02010609060101010101" pitchFamily="49" charset="-122"/>
              </a:rPr>
              <a:t>个人能力强</a:t>
            </a:r>
            <a:endParaRPr lang="en-US" altLang="zh-CN" dirty="0">
              <a:latin typeface="楷体" panose="02010609060101010101" pitchFamily="49" charset="-122"/>
              <a:ea typeface="楷体" panose="02010609060101010101" pitchFamily="49" charset="-122"/>
            </a:endParaRPr>
          </a:p>
          <a:p>
            <a:pPr marL="285750" indent="-285750">
              <a:lnSpc>
                <a:spcPct val="200000"/>
              </a:lnSpc>
              <a:buFont typeface="Arial" panose="020B0604020202020204" pitchFamily="34" charset="0"/>
              <a:buChar char="•"/>
            </a:pPr>
            <a:r>
              <a:rPr lang="zh-CN" altLang="en-US" dirty="0">
                <a:latin typeface="楷体" panose="02010609060101010101" pitchFamily="49" charset="-122"/>
                <a:ea typeface="楷体" panose="02010609060101010101" pitchFamily="49" charset="-122"/>
              </a:rPr>
              <a:t>做事有条理</a:t>
            </a:r>
            <a:endParaRPr lang="zh-CN" altLang="en-US" dirty="0">
              <a:latin typeface="楷体" panose="02010609060101010101" pitchFamily="49" charset="-122"/>
              <a:ea typeface="楷体" panose="02010609060101010101" pitchFamily="49" charset="-122"/>
            </a:endParaRPr>
          </a:p>
        </p:txBody>
      </p:sp>
      <p:sp>
        <p:nvSpPr>
          <p:cNvPr id="4" name="文本框 3"/>
          <p:cNvSpPr txBox="1"/>
          <p:nvPr/>
        </p:nvSpPr>
        <p:spPr>
          <a:xfrm>
            <a:off x="3411233" y="4742562"/>
            <a:ext cx="1697901" cy="1654748"/>
          </a:xfrm>
          <a:prstGeom prst="rect">
            <a:avLst/>
          </a:prstGeom>
          <a:noFill/>
        </p:spPr>
        <p:txBody>
          <a:bodyPr wrap="none" rtlCol="0">
            <a:spAutoFit/>
          </a:bodyPr>
          <a:lstStyle/>
          <a:p>
            <a:pPr>
              <a:lnSpc>
                <a:spcPct val="200000"/>
              </a:lnSpc>
            </a:pPr>
            <a:r>
              <a:rPr lang="en-US" altLang="zh-CN" b="1" dirty="0">
                <a:latin typeface="楷体" panose="02010609060101010101" pitchFamily="49" charset="-122"/>
                <a:ea typeface="楷体" panose="02010609060101010101" pitchFamily="49" charset="-122"/>
              </a:rPr>
              <a:t>GPU</a:t>
            </a:r>
            <a:r>
              <a:rPr lang="zh-CN" altLang="en-US" b="1" dirty="0">
                <a:latin typeface="楷体" panose="02010609060101010101" pitchFamily="49" charset="-122"/>
                <a:ea typeface="楷体" panose="02010609060101010101" pitchFamily="49" charset="-122"/>
              </a:rPr>
              <a:t>：乌合之众</a:t>
            </a:r>
            <a:endParaRPr lang="en-US" altLang="zh-CN" b="1" dirty="0">
              <a:latin typeface="楷体" panose="02010609060101010101" pitchFamily="49" charset="-122"/>
              <a:ea typeface="楷体" panose="02010609060101010101" pitchFamily="49" charset="-122"/>
            </a:endParaRPr>
          </a:p>
          <a:p>
            <a:pPr marL="285750" indent="-285750">
              <a:lnSpc>
                <a:spcPct val="200000"/>
              </a:lnSpc>
              <a:buFont typeface="Arial" panose="020B0604020202020204" pitchFamily="34" charset="0"/>
              <a:buChar char="•"/>
            </a:pPr>
            <a:r>
              <a:rPr lang="zh-CN" altLang="en-US" dirty="0">
                <a:latin typeface="楷体" panose="02010609060101010101" pitchFamily="49" charset="-122"/>
                <a:ea typeface="楷体" panose="02010609060101010101" pitchFamily="49" charset="-122"/>
              </a:rPr>
              <a:t>个人能力弱</a:t>
            </a:r>
            <a:endParaRPr lang="en-US" altLang="zh-CN" dirty="0">
              <a:latin typeface="楷体" panose="02010609060101010101" pitchFamily="49" charset="-122"/>
              <a:ea typeface="楷体" panose="02010609060101010101" pitchFamily="49" charset="-122"/>
            </a:endParaRPr>
          </a:p>
          <a:p>
            <a:pPr marL="285750" indent="-285750">
              <a:lnSpc>
                <a:spcPct val="200000"/>
              </a:lnSpc>
              <a:buFont typeface="Arial" panose="020B0604020202020204" pitchFamily="34" charset="0"/>
              <a:buChar char="•"/>
            </a:pPr>
            <a:r>
              <a:rPr lang="zh-CN" altLang="en-US" dirty="0">
                <a:latin typeface="楷体" panose="02010609060101010101" pitchFamily="49" charset="-122"/>
                <a:ea typeface="楷体" panose="02010609060101010101" pitchFamily="49" charset="-122"/>
              </a:rPr>
              <a:t>有团队精神</a:t>
            </a:r>
            <a:endParaRPr lang="zh-CN" altLang="en-US" dirty="0">
              <a:latin typeface="楷体" panose="02010609060101010101" pitchFamily="49" charset="-122"/>
              <a:ea typeface="楷体" panose="02010609060101010101" pitchFamily="49" charset="-122"/>
            </a:endParaRPr>
          </a:p>
        </p:txBody>
      </p:sp>
      <p:grpSp>
        <p:nvGrpSpPr>
          <p:cNvPr id="5" name="组合 4"/>
          <p:cNvGrpSpPr/>
          <p:nvPr/>
        </p:nvGrpSpPr>
        <p:grpSpPr>
          <a:xfrm>
            <a:off x="5679937" y="1776684"/>
            <a:ext cx="6197073" cy="4339846"/>
            <a:chOff x="5679937" y="1776684"/>
            <a:chExt cx="6197073" cy="4339846"/>
          </a:xfrm>
        </p:grpSpPr>
        <p:pic>
          <p:nvPicPr>
            <p:cNvPr id="1030" name="Picture 6"/>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153400" y="2217303"/>
              <a:ext cx="3201954" cy="1802742"/>
            </a:xfrm>
            <a:prstGeom prst="rect">
              <a:avLst/>
            </a:prstGeom>
            <a:noFill/>
            <a:extLst>
              <a:ext uri="{909E8E84-426E-40DD-AFC4-6F175D3DCCD1}">
                <a14:hiddenFill xmlns:a14="http://schemas.microsoft.com/office/drawing/2010/main">
                  <a:solidFill>
                    <a:srgbClr val="FFFFFF"/>
                  </a:solidFill>
                </a14:hiddenFill>
              </a:ext>
            </a:extLst>
          </p:spPr>
        </p:pic>
        <p:sp>
          <p:nvSpPr>
            <p:cNvPr id="7" name="文本框 6"/>
            <p:cNvSpPr txBox="1"/>
            <p:nvPr/>
          </p:nvSpPr>
          <p:spPr>
            <a:xfrm>
              <a:off x="7841306" y="1776684"/>
              <a:ext cx="1826141" cy="369332"/>
            </a:xfrm>
            <a:prstGeom prst="rect">
              <a:avLst/>
            </a:prstGeom>
            <a:noFill/>
          </p:spPr>
          <p:txBody>
            <a:bodyPr wrap="none" rtlCol="0">
              <a:spAutoFit/>
            </a:bodyPr>
            <a:lstStyle/>
            <a:p>
              <a:r>
                <a:rPr lang="zh-CN" altLang="en-US" dirty="0">
                  <a:latin typeface="楷体" panose="02010609060101010101" pitchFamily="49" charset="-122"/>
                  <a:ea typeface="楷体" panose="02010609060101010101" pitchFamily="49" charset="-122"/>
                </a:rPr>
                <a:t>搬运</a:t>
              </a:r>
              <a:r>
                <a:rPr lang="en-US" altLang="zh-CN" dirty="0">
                  <a:latin typeface="楷体" panose="02010609060101010101" pitchFamily="49" charset="-122"/>
                  <a:ea typeface="楷体" panose="02010609060101010101" pitchFamily="49" charset="-122"/>
                </a:rPr>
                <a:t>1000</a:t>
              </a:r>
              <a:r>
                <a:rPr lang="zh-CN" altLang="en-US" dirty="0">
                  <a:latin typeface="楷体" panose="02010609060101010101" pitchFamily="49" charset="-122"/>
                  <a:ea typeface="楷体" panose="02010609060101010101" pitchFamily="49" charset="-122"/>
                </a:rPr>
                <a:t>块石头</a:t>
              </a:r>
              <a:endParaRPr lang="zh-CN" altLang="en-US" dirty="0">
                <a:latin typeface="楷体" panose="02010609060101010101" pitchFamily="49" charset="-122"/>
                <a:ea typeface="楷体" panose="02010609060101010101" pitchFamily="49" charset="-122"/>
              </a:endParaRPr>
            </a:p>
          </p:txBody>
        </p:sp>
        <p:sp>
          <p:nvSpPr>
            <p:cNvPr id="9" name="星形: 八角 8"/>
            <p:cNvSpPr/>
            <p:nvPr/>
          </p:nvSpPr>
          <p:spPr>
            <a:xfrm>
              <a:off x="5679937" y="4851531"/>
              <a:ext cx="1473463" cy="1264999"/>
            </a:xfrm>
            <a:prstGeom prst="star8">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t>无尽的花园</a:t>
              </a:r>
              <a:r>
                <a:rPr lang="en-US" altLang="zh-CN" dirty="0"/>
                <a:t>29</a:t>
              </a:r>
              <a:endParaRPr lang="zh-CN" altLang="en-US" dirty="0"/>
            </a:p>
          </p:txBody>
        </p:sp>
        <p:sp>
          <p:nvSpPr>
            <p:cNvPr id="10" name="星形: 八角 9"/>
            <p:cNvSpPr/>
            <p:nvPr/>
          </p:nvSpPr>
          <p:spPr>
            <a:xfrm>
              <a:off x="10403547" y="4851531"/>
              <a:ext cx="1473463" cy="1264999"/>
            </a:xfrm>
            <a:prstGeom prst="star8">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t>莲</a:t>
              </a:r>
              <a:endParaRPr lang="en-US" altLang="zh-CN" dirty="0"/>
            </a:p>
            <a:p>
              <a:pPr algn="ctr"/>
              <a:r>
                <a:rPr lang="zh-CN" altLang="en-US" dirty="0"/>
                <a:t>美术馆</a:t>
              </a:r>
              <a:endParaRPr lang="zh-CN" altLang="en-US" dirty="0"/>
            </a:p>
          </p:txBody>
        </p:sp>
        <p:sp>
          <p:nvSpPr>
            <p:cNvPr id="11" name="箭头: 上弧形 10"/>
            <p:cNvSpPr/>
            <p:nvPr/>
          </p:nvSpPr>
          <p:spPr>
            <a:xfrm>
              <a:off x="6749105" y="4091332"/>
              <a:ext cx="4126644" cy="655968"/>
            </a:xfrm>
            <a:prstGeom prst="curved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flipH="1">
            <a:off x="224085" y="159798"/>
            <a:ext cx="4907207" cy="369332"/>
          </a:xfrm>
          <a:prstGeom prst="rect">
            <a:avLst/>
          </a:prstGeom>
          <a:noFill/>
        </p:spPr>
        <p:txBody>
          <a:bodyPr wrap="square" rtlCol="0">
            <a:spAutoFit/>
          </a:bodyPr>
          <a:lstStyle/>
          <a:p>
            <a:r>
              <a:rPr lang="zh-CN" altLang="en-US" b="1" dirty="0">
                <a:latin typeface="宋体" panose="02010600030101010101" pitchFamily="2" charset="-122"/>
                <a:ea typeface="宋体" panose="02010600030101010101" pitchFamily="2" charset="-122"/>
              </a:rPr>
              <a:t>数据中心芯片类型</a:t>
            </a:r>
            <a:endParaRPr lang="zh-CN" altLang="en-US" b="1" dirty="0">
              <a:latin typeface="宋体" panose="02010600030101010101" pitchFamily="2" charset="-122"/>
              <a:ea typeface="宋体" panose="02010600030101010101" pitchFamily="2" charset="-122"/>
            </a:endParaRPr>
          </a:p>
        </p:txBody>
      </p:sp>
      <p:sp>
        <p:nvSpPr>
          <p:cNvPr id="14" name="文本框 13"/>
          <p:cNvSpPr txBox="1"/>
          <p:nvPr/>
        </p:nvSpPr>
        <p:spPr>
          <a:xfrm>
            <a:off x="224085" y="593846"/>
            <a:ext cx="11648496" cy="923330"/>
          </a:xfrm>
          <a:prstGeom prst="rect">
            <a:avLst/>
          </a:prstGeom>
          <a:noFill/>
        </p:spPr>
        <p:txBody>
          <a:bodyPr wrap="square">
            <a:spAutoFit/>
          </a:bodyPr>
          <a:lstStyle/>
          <a:p>
            <a:pPr marL="285750" indent="-285750">
              <a:buFont typeface="Wingdings" panose="05000000000000000000" pitchFamily="2" charset="2"/>
              <a:buChar char="u"/>
            </a:pPr>
            <a:r>
              <a:rPr lang="zh-CN" altLang="en-US" dirty="0">
                <a:ea typeface="+mn-lt"/>
                <a:cs typeface="+mn-lt"/>
              </a:rPr>
              <a:t>在数据中心</a:t>
            </a:r>
            <a:r>
              <a:rPr lang="en-US" altLang="zh-CN" dirty="0">
                <a:ea typeface="+mn-lt"/>
                <a:cs typeface="+mn-lt"/>
              </a:rPr>
              <a:t>AI</a:t>
            </a:r>
            <a:r>
              <a:rPr lang="zh-CN" altLang="en-US" dirty="0">
                <a:ea typeface="+mn-lt"/>
                <a:cs typeface="+mn-lt"/>
              </a:rPr>
              <a:t>模型的部署过程中，</a:t>
            </a:r>
            <a:r>
              <a:rPr lang="zh-CN" altLang="en-US" dirty="0">
                <a:solidFill>
                  <a:srgbClr val="C00000"/>
                </a:solidFill>
                <a:ea typeface="+mn-lt"/>
                <a:cs typeface="+mn-lt"/>
              </a:rPr>
              <a:t>训练</a:t>
            </a:r>
            <a:r>
              <a:rPr lang="zh-CN" altLang="en-US" dirty="0">
                <a:ea typeface="+mn-lt"/>
                <a:cs typeface="+mn-lt"/>
              </a:rPr>
              <a:t>和</a:t>
            </a:r>
            <a:r>
              <a:rPr lang="zh-CN" altLang="en-US" dirty="0">
                <a:solidFill>
                  <a:srgbClr val="C00000"/>
                </a:solidFill>
                <a:ea typeface="+mn-lt"/>
                <a:cs typeface="+mn-lt"/>
              </a:rPr>
              <a:t>推理</a:t>
            </a:r>
            <a:r>
              <a:rPr lang="zh-CN" altLang="en-US" dirty="0">
                <a:ea typeface="+mn-lt"/>
                <a:cs typeface="+mn-lt"/>
              </a:rPr>
              <a:t>是两个紧密相关但又有所不同的阶段。训练过程通过调整模型参数来优化模型性能（本质是高效的矩阵运算），而推理过程则利用训练好的模型进行预测。</a:t>
            </a:r>
            <a:endParaRPr lang="en-US" altLang="zh-CN" dirty="0">
              <a:ea typeface="+mn-lt"/>
              <a:cs typeface="+mn-lt"/>
            </a:endParaRPr>
          </a:p>
          <a:p>
            <a:pPr marL="285750" indent="-285750">
              <a:buFont typeface="Wingdings" panose="05000000000000000000" pitchFamily="2" charset="2"/>
              <a:buChar char="u"/>
            </a:pPr>
            <a:r>
              <a:rPr lang="zh-CN" altLang="en-US" dirty="0">
                <a:ea typeface="+mn-lt"/>
                <a:cs typeface="+mn-lt"/>
              </a:rPr>
              <a:t>未来</a:t>
            </a:r>
            <a:r>
              <a:rPr lang="en-US" altLang="zh-CN" dirty="0">
                <a:ea typeface="+mn-lt"/>
                <a:cs typeface="+mn-lt"/>
              </a:rPr>
              <a:t>AI</a:t>
            </a:r>
            <a:r>
              <a:rPr lang="zh-CN" altLang="en-US" dirty="0">
                <a:ea typeface="+mn-lt"/>
                <a:cs typeface="+mn-lt"/>
              </a:rPr>
              <a:t>模型的训练还是以</a:t>
            </a:r>
            <a:r>
              <a:rPr lang="en-US" altLang="zh-CN" dirty="0">
                <a:ea typeface="+mn-lt"/>
                <a:cs typeface="+mn-lt"/>
              </a:rPr>
              <a:t>GPU</a:t>
            </a:r>
            <a:r>
              <a:rPr lang="zh-CN" altLang="en-US" dirty="0">
                <a:ea typeface="+mn-lt"/>
                <a:cs typeface="+mn-lt"/>
              </a:rPr>
              <a:t>为主（对计算速度要求高），但推理环节</a:t>
            </a:r>
            <a:r>
              <a:rPr lang="en-US" altLang="zh-CN" dirty="0">
                <a:ea typeface="+mn-lt"/>
                <a:cs typeface="+mn-lt"/>
              </a:rPr>
              <a:t>ASIC</a:t>
            </a:r>
            <a:r>
              <a:rPr lang="zh-CN" altLang="en-US" dirty="0">
                <a:ea typeface="+mn-lt"/>
                <a:cs typeface="+mn-lt"/>
              </a:rPr>
              <a:t>芯片有望部分替代</a:t>
            </a:r>
            <a:r>
              <a:rPr lang="en-US" altLang="zh-CN" dirty="0">
                <a:ea typeface="+mn-lt"/>
                <a:cs typeface="+mn-lt"/>
              </a:rPr>
              <a:t>GPU</a:t>
            </a:r>
            <a:r>
              <a:rPr lang="zh-CN" altLang="en-US" dirty="0">
                <a:ea typeface="+mn-lt"/>
                <a:cs typeface="+mn-lt"/>
              </a:rPr>
              <a:t>。</a:t>
            </a:r>
            <a:endParaRPr lang="zh-CN" altLang="en-US" dirty="0">
              <a:ea typeface="+mn-lt"/>
              <a:cs typeface="+mn-lt"/>
            </a:endParaRPr>
          </a:p>
        </p:txBody>
      </p:sp>
      <p:sp>
        <p:nvSpPr>
          <p:cNvPr id="6" name="文本框 5"/>
          <p:cNvSpPr txBox="1"/>
          <p:nvPr/>
        </p:nvSpPr>
        <p:spPr>
          <a:xfrm>
            <a:off x="4827014" y="1803094"/>
            <a:ext cx="2023311" cy="338554"/>
          </a:xfrm>
          <a:prstGeom prst="rect">
            <a:avLst/>
          </a:prstGeom>
          <a:noFill/>
        </p:spPr>
        <p:txBody>
          <a:bodyPr wrap="none" rtlCol="0">
            <a:spAutoFit/>
          </a:bodyPr>
          <a:lstStyle/>
          <a:p>
            <a:pPr algn="ctr"/>
            <a:r>
              <a:rPr lang="en-US" altLang="zh-CN" sz="1600" b="1" dirty="0"/>
              <a:t>AI</a:t>
            </a:r>
            <a:r>
              <a:rPr lang="zh-CN" altLang="en-US" sz="1600" b="1" dirty="0"/>
              <a:t>模型的训练和推理</a:t>
            </a:r>
            <a:endParaRPr lang="zh-CN" altLang="en-US" sz="1600" b="1" dirty="0"/>
          </a:p>
        </p:txBody>
      </p:sp>
      <p:pic>
        <p:nvPicPr>
          <p:cNvPr id="2050"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904833" y="2247958"/>
            <a:ext cx="10287000" cy="428625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flipH="1">
            <a:off x="224085" y="159798"/>
            <a:ext cx="4907207" cy="369332"/>
          </a:xfrm>
          <a:prstGeom prst="rect">
            <a:avLst/>
          </a:prstGeom>
          <a:noFill/>
        </p:spPr>
        <p:txBody>
          <a:bodyPr wrap="square" rtlCol="0">
            <a:spAutoFit/>
          </a:bodyPr>
          <a:lstStyle/>
          <a:p>
            <a:r>
              <a:rPr lang="zh-CN" altLang="en-US" b="1" dirty="0">
                <a:latin typeface="宋体" panose="02010600030101010101" pitchFamily="2" charset="-122"/>
                <a:ea typeface="宋体" panose="02010600030101010101" pitchFamily="2" charset="-122"/>
              </a:rPr>
              <a:t>数据中心芯片类型</a:t>
            </a:r>
            <a:endParaRPr lang="zh-CN" altLang="en-US" b="1" dirty="0">
              <a:latin typeface="宋体" panose="02010600030101010101" pitchFamily="2" charset="-122"/>
              <a:ea typeface="宋体" panose="02010600030101010101" pitchFamily="2" charset="-122"/>
            </a:endParaRPr>
          </a:p>
        </p:txBody>
      </p:sp>
      <p:sp>
        <p:nvSpPr>
          <p:cNvPr id="14" name="文本框 13"/>
          <p:cNvSpPr txBox="1"/>
          <p:nvPr/>
        </p:nvSpPr>
        <p:spPr>
          <a:xfrm>
            <a:off x="224085" y="593846"/>
            <a:ext cx="11648496" cy="1477328"/>
          </a:xfrm>
          <a:prstGeom prst="rect">
            <a:avLst/>
          </a:prstGeom>
          <a:noFill/>
        </p:spPr>
        <p:txBody>
          <a:bodyPr wrap="square">
            <a:spAutoFit/>
          </a:bodyPr>
          <a:lstStyle/>
          <a:p>
            <a:pPr marL="285750" indent="-285750">
              <a:buFont typeface="Wingdings" panose="05000000000000000000" pitchFamily="2" charset="2"/>
              <a:buChar char="u"/>
            </a:pPr>
            <a:r>
              <a:rPr lang="en-US" altLang="zh-CN" dirty="0">
                <a:ea typeface="+mn-lt"/>
                <a:cs typeface="+mn-lt"/>
              </a:rPr>
              <a:t>ASIC</a:t>
            </a:r>
            <a:r>
              <a:rPr lang="zh-CN" altLang="en-US" dirty="0">
                <a:ea typeface="+mn-lt"/>
                <a:cs typeface="+mn-lt"/>
              </a:rPr>
              <a:t>的英文全称是</a:t>
            </a:r>
            <a:r>
              <a:rPr lang="en-US" altLang="zh-CN" dirty="0">
                <a:ea typeface="+mn-lt"/>
                <a:cs typeface="+mn-lt"/>
              </a:rPr>
              <a:t>Application-Specific Integrated Circuit </a:t>
            </a:r>
            <a:r>
              <a:rPr lang="zh-CN" altLang="en-US" dirty="0">
                <a:ea typeface="+mn-lt"/>
                <a:cs typeface="+mn-lt"/>
              </a:rPr>
              <a:t>，中文译为</a:t>
            </a:r>
            <a:r>
              <a:rPr lang="zh-CN" altLang="en-US" dirty="0">
                <a:solidFill>
                  <a:srgbClr val="C00000"/>
                </a:solidFill>
                <a:ea typeface="+mn-lt"/>
                <a:cs typeface="+mn-lt"/>
              </a:rPr>
              <a:t>专用集成电路</a:t>
            </a:r>
            <a:r>
              <a:rPr lang="zh-CN" altLang="en-US" dirty="0">
                <a:ea typeface="+mn-lt"/>
                <a:cs typeface="+mn-lt"/>
              </a:rPr>
              <a:t>，是一种为特定应用或功能定制设计的集成电路芯片。</a:t>
            </a:r>
            <a:endParaRPr lang="en-US" altLang="zh-CN" dirty="0">
              <a:ea typeface="+mn-lt"/>
              <a:cs typeface="+mn-lt"/>
            </a:endParaRPr>
          </a:p>
          <a:p>
            <a:pPr marL="285750" indent="-285750">
              <a:buFont typeface="Wingdings" panose="05000000000000000000" pitchFamily="2" charset="2"/>
              <a:buChar char="u"/>
            </a:pPr>
            <a:r>
              <a:rPr lang="zh-CN" altLang="en-US" dirty="0">
                <a:ea typeface="+mn-lt"/>
                <a:cs typeface="+mn-lt"/>
              </a:rPr>
              <a:t>以往用训练好的</a:t>
            </a:r>
            <a:r>
              <a:rPr lang="en-US" altLang="zh-CN" dirty="0">
                <a:ea typeface="+mn-lt"/>
                <a:cs typeface="+mn-lt"/>
              </a:rPr>
              <a:t>AI</a:t>
            </a:r>
            <a:r>
              <a:rPr lang="zh-CN" altLang="en-US" dirty="0">
                <a:ea typeface="+mn-lt"/>
                <a:cs typeface="+mn-lt"/>
              </a:rPr>
              <a:t>模型提供推理服务都会沿用</a:t>
            </a:r>
            <a:r>
              <a:rPr lang="en-US" altLang="zh-CN" dirty="0">
                <a:ea typeface="+mn-lt"/>
                <a:cs typeface="+mn-lt"/>
              </a:rPr>
              <a:t>GPU</a:t>
            </a:r>
            <a:r>
              <a:rPr lang="zh-CN" altLang="en-US" dirty="0">
                <a:ea typeface="+mn-lt"/>
                <a:cs typeface="+mn-lt"/>
              </a:rPr>
              <a:t>，但由于</a:t>
            </a:r>
            <a:r>
              <a:rPr lang="en-US" altLang="zh-CN" dirty="0">
                <a:ea typeface="+mn-lt"/>
                <a:cs typeface="+mn-lt"/>
              </a:rPr>
              <a:t>GPU</a:t>
            </a:r>
            <a:r>
              <a:rPr lang="zh-CN" altLang="en-US" dirty="0">
                <a:ea typeface="+mn-lt"/>
                <a:cs typeface="+mn-lt"/>
              </a:rPr>
              <a:t>的通用设计架构，在执行推理任务时存在功能冗余；而</a:t>
            </a:r>
            <a:r>
              <a:rPr lang="en-US" altLang="zh-CN" dirty="0">
                <a:ea typeface="+mn-lt"/>
                <a:cs typeface="+mn-lt"/>
              </a:rPr>
              <a:t>ASIC</a:t>
            </a:r>
            <a:r>
              <a:rPr lang="zh-CN" altLang="en-US" dirty="0">
                <a:ea typeface="+mn-lt"/>
                <a:cs typeface="+mn-lt"/>
              </a:rPr>
              <a:t>采用定制化设计，大幅减少了针对通用加速计算的不必要的硬件设计，并将部分常用算法模块固化到硬件中，因此可大幅提升运算效率，同时降低能耗，算力成本上也可有效降低（但牺牲了通用性）。</a:t>
            </a:r>
            <a:endParaRPr lang="zh-CN" altLang="en-US" dirty="0">
              <a:ea typeface="+mn-lt"/>
              <a:cs typeface="+mn-lt"/>
            </a:endParaRPr>
          </a:p>
        </p:txBody>
      </p:sp>
      <p:pic>
        <p:nvPicPr>
          <p:cNvPr id="4102" name="Picture 6"/>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7627896" y="2413087"/>
            <a:ext cx="4027150" cy="4019111"/>
          </a:xfrm>
          <a:prstGeom prst="rect">
            <a:avLst/>
          </a:prstGeom>
          <a:noFill/>
          <a:extLst>
            <a:ext uri="{909E8E84-426E-40DD-AFC4-6F175D3DCCD1}">
              <a14:hiddenFill xmlns:a14="http://schemas.microsoft.com/office/drawing/2010/main">
                <a:solidFill>
                  <a:srgbClr val="FFFFFF"/>
                </a:solidFill>
              </a14:hiddenFill>
            </a:ext>
          </a:extLst>
        </p:spPr>
      </p:pic>
      <p:pic>
        <p:nvPicPr>
          <p:cNvPr id="4104" name="Picture 8"/>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8337" y="2728987"/>
            <a:ext cx="5389699" cy="3888672"/>
          </a:xfrm>
          <a:prstGeom prst="rect">
            <a:avLst/>
          </a:prstGeom>
          <a:noFill/>
          <a:extLst>
            <a:ext uri="{909E8E84-426E-40DD-AFC4-6F175D3DCCD1}">
              <a14:hiddenFill xmlns:a14="http://schemas.microsoft.com/office/drawing/2010/main">
                <a:solidFill>
                  <a:srgbClr val="FFFFFF"/>
                </a:solidFill>
              </a14:hiddenFill>
            </a:ext>
          </a:extLst>
        </p:spPr>
      </p:pic>
      <p:sp>
        <p:nvSpPr>
          <p:cNvPr id="11" name="文本框 10"/>
          <p:cNvSpPr txBox="1"/>
          <p:nvPr/>
        </p:nvSpPr>
        <p:spPr>
          <a:xfrm>
            <a:off x="2348736" y="2219871"/>
            <a:ext cx="1588898" cy="338554"/>
          </a:xfrm>
          <a:prstGeom prst="rect">
            <a:avLst/>
          </a:prstGeom>
          <a:noFill/>
        </p:spPr>
        <p:txBody>
          <a:bodyPr wrap="none" rtlCol="0">
            <a:spAutoFit/>
          </a:bodyPr>
          <a:lstStyle/>
          <a:p>
            <a:pPr algn="ctr"/>
            <a:r>
              <a:rPr lang="zh-CN" altLang="en-US" sz="1600" b="1" dirty="0"/>
              <a:t>通用机床→</a:t>
            </a:r>
            <a:r>
              <a:rPr lang="en-US" altLang="zh-CN" sz="1600" b="1" dirty="0"/>
              <a:t>GPU</a:t>
            </a:r>
            <a:endParaRPr lang="zh-CN" altLang="en-US" sz="1600" b="1" dirty="0"/>
          </a:p>
        </p:txBody>
      </p:sp>
      <p:sp>
        <p:nvSpPr>
          <p:cNvPr id="12" name="文本框 11"/>
          <p:cNvSpPr txBox="1"/>
          <p:nvPr/>
        </p:nvSpPr>
        <p:spPr>
          <a:xfrm>
            <a:off x="8718586" y="2219871"/>
            <a:ext cx="1619354" cy="338554"/>
          </a:xfrm>
          <a:prstGeom prst="rect">
            <a:avLst/>
          </a:prstGeom>
          <a:noFill/>
        </p:spPr>
        <p:txBody>
          <a:bodyPr wrap="none" rtlCol="0">
            <a:spAutoFit/>
          </a:bodyPr>
          <a:lstStyle/>
          <a:p>
            <a:pPr algn="ctr"/>
            <a:r>
              <a:rPr lang="zh-CN" altLang="en-US" sz="1600" b="1" dirty="0"/>
              <a:t>专用机床→</a:t>
            </a:r>
            <a:r>
              <a:rPr lang="en-US" altLang="zh-CN" sz="1600" b="1" dirty="0"/>
              <a:t>ASIC</a:t>
            </a:r>
            <a:endParaRPr lang="zh-CN" altLang="en-US" sz="1600" b="1"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10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410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flipH="1">
            <a:off x="224085" y="159798"/>
            <a:ext cx="4907207" cy="369332"/>
          </a:xfrm>
          <a:prstGeom prst="rect">
            <a:avLst/>
          </a:prstGeom>
          <a:noFill/>
        </p:spPr>
        <p:txBody>
          <a:bodyPr wrap="square" rtlCol="0">
            <a:spAutoFit/>
          </a:bodyPr>
          <a:lstStyle/>
          <a:p>
            <a:r>
              <a:rPr lang="zh-CN" altLang="en-US" b="1" dirty="0">
                <a:latin typeface="宋体" panose="02010600030101010101" pitchFamily="2" charset="-122"/>
                <a:ea typeface="宋体" panose="02010600030101010101" pitchFamily="2" charset="-122"/>
              </a:rPr>
              <a:t>数据中心芯片类型</a:t>
            </a:r>
            <a:endParaRPr lang="zh-CN" altLang="en-US" b="1" dirty="0">
              <a:latin typeface="宋体" panose="02010600030101010101" pitchFamily="2" charset="-122"/>
              <a:ea typeface="宋体" panose="02010600030101010101" pitchFamily="2" charset="-122"/>
            </a:endParaRPr>
          </a:p>
        </p:txBody>
      </p:sp>
      <p:sp>
        <p:nvSpPr>
          <p:cNvPr id="14" name="文本框 13"/>
          <p:cNvSpPr txBox="1"/>
          <p:nvPr/>
        </p:nvSpPr>
        <p:spPr>
          <a:xfrm>
            <a:off x="224085" y="593846"/>
            <a:ext cx="11648496" cy="646331"/>
          </a:xfrm>
          <a:prstGeom prst="rect">
            <a:avLst/>
          </a:prstGeom>
          <a:noFill/>
        </p:spPr>
        <p:txBody>
          <a:bodyPr wrap="square">
            <a:spAutoFit/>
          </a:bodyPr>
          <a:lstStyle/>
          <a:p>
            <a:pPr marL="285750" indent="-285750">
              <a:buFont typeface="Wingdings" panose="05000000000000000000" pitchFamily="2" charset="2"/>
              <a:buChar char="u"/>
            </a:pPr>
            <a:r>
              <a:rPr lang="zh-CN" altLang="en-US" dirty="0">
                <a:ea typeface="+mn-lt"/>
                <a:cs typeface="+mn-lt"/>
              </a:rPr>
              <a:t>用</a:t>
            </a:r>
            <a:r>
              <a:rPr lang="en-US" altLang="zh-CN" dirty="0">
                <a:ea typeface="+mn-lt"/>
                <a:cs typeface="+mn-lt"/>
              </a:rPr>
              <a:t>ASIC</a:t>
            </a:r>
            <a:r>
              <a:rPr lang="zh-CN" altLang="en-US" dirty="0">
                <a:ea typeface="+mn-lt"/>
                <a:cs typeface="+mn-lt"/>
              </a:rPr>
              <a:t>芯片代替</a:t>
            </a:r>
            <a:r>
              <a:rPr lang="en-US" altLang="zh-CN" dirty="0">
                <a:ea typeface="+mn-lt"/>
                <a:cs typeface="+mn-lt"/>
              </a:rPr>
              <a:t>GPU</a:t>
            </a:r>
            <a:r>
              <a:rPr lang="zh-CN" altLang="en-US" dirty="0">
                <a:ea typeface="+mn-lt"/>
                <a:cs typeface="+mn-lt"/>
              </a:rPr>
              <a:t>进行</a:t>
            </a:r>
            <a:r>
              <a:rPr lang="en-US" altLang="zh-CN" dirty="0">
                <a:ea typeface="+mn-lt"/>
                <a:cs typeface="+mn-lt"/>
              </a:rPr>
              <a:t>AI</a:t>
            </a:r>
            <a:r>
              <a:rPr lang="zh-CN" altLang="en-US" dirty="0">
                <a:ea typeface="+mn-lt"/>
                <a:cs typeface="+mn-lt"/>
              </a:rPr>
              <a:t>模型推理，主要有两个条件，一是模型算法相对成熟，二是用量足够大。国外提供云服务的互联网巨头如谷歌、亚马逊、</a:t>
            </a:r>
            <a:r>
              <a:rPr lang="en-US" altLang="zh-CN" dirty="0">
                <a:ea typeface="+mn-lt"/>
                <a:cs typeface="+mn-lt"/>
              </a:rPr>
              <a:t>META</a:t>
            </a:r>
            <a:r>
              <a:rPr lang="zh-CN" altLang="en-US" dirty="0">
                <a:ea typeface="+mn-lt"/>
                <a:cs typeface="+mn-lt"/>
              </a:rPr>
              <a:t>等在数据中心算力芯片定制领域布局较早，国内</a:t>
            </a:r>
            <a:r>
              <a:rPr lang="en-US" altLang="zh-CN" dirty="0">
                <a:ea typeface="+mn-lt"/>
                <a:cs typeface="+mn-lt"/>
              </a:rPr>
              <a:t>BAT&amp;</a:t>
            </a:r>
            <a:r>
              <a:rPr lang="zh-CN" altLang="en-US" dirty="0">
                <a:ea typeface="+mn-lt"/>
                <a:cs typeface="+mn-lt"/>
              </a:rPr>
              <a:t>字节也在跟进。</a:t>
            </a:r>
            <a:endParaRPr lang="zh-CN" altLang="en-US" dirty="0">
              <a:ea typeface="+mn-lt"/>
              <a:cs typeface="+mn-lt"/>
            </a:endParaRPr>
          </a:p>
        </p:txBody>
      </p:sp>
      <p:sp>
        <p:nvSpPr>
          <p:cNvPr id="6" name="文本框 5"/>
          <p:cNvSpPr txBox="1"/>
          <p:nvPr/>
        </p:nvSpPr>
        <p:spPr>
          <a:xfrm>
            <a:off x="3596380" y="1438281"/>
            <a:ext cx="4903907" cy="338554"/>
          </a:xfrm>
          <a:prstGeom prst="rect">
            <a:avLst/>
          </a:prstGeom>
          <a:noFill/>
        </p:spPr>
        <p:txBody>
          <a:bodyPr wrap="none" rtlCol="0">
            <a:spAutoFit/>
          </a:bodyPr>
          <a:lstStyle/>
          <a:p>
            <a:pPr algn="ctr"/>
            <a:r>
              <a:rPr lang="zh-CN" altLang="en-US" sz="1600" b="1" dirty="0"/>
              <a:t>国外网联网巨头在数据中心算力芯片定制领域的布局</a:t>
            </a:r>
            <a:endParaRPr lang="zh-CN" altLang="en-US" sz="1600" b="1" dirty="0"/>
          </a:p>
        </p:txBody>
      </p:sp>
      <p:pic>
        <p:nvPicPr>
          <p:cNvPr id="4" name="图片 3"/>
          <p:cNvPicPr>
            <a:picLocks noChangeAspect="1"/>
          </p:cNvPicPr>
          <p:nvPr/>
        </p:nvPicPr>
        <p:blipFill>
          <a:blip r:embed="rId1"/>
          <a:stretch>
            <a:fillRect/>
          </a:stretch>
        </p:blipFill>
        <p:spPr>
          <a:xfrm>
            <a:off x="800692" y="2062426"/>
            <a:ext cx="10590616" cy="4249122"/>
          </a:xfrm>
          <a:prstGeom prst="rect">
            <a:avLst/>
          </a:prstGeom>
        </p:spPr>
      </p:pic>
      <p:sp>
        <p:nvSpPr>
          <p:cNvPr id="7" name="文本框 6"/>
          <p:cNvSpPr txBox="1"/>
          <p:nvPr/>
        </p:nvSpPr>
        <p:spPr>
          <a:xfrm>
            <a:off x="5591176" y="6431683"/>
            <a:ext cx="6369916" cy="307777"/>
          </a:xfrm>
          <a:prstGeom prst="rect">
            <a:avLst/>
          </a:prstGeom>
          <a:noFill/>
        </p:spPr>
        <p:txBody>
          <a:bodyPr wrap="square">
            <a:spAutoFit/>
          </a:bodyPr>
          <a:lstStyle/>
          <a:p>
            <a:pPr algn="r"/>
            <a:r>
              <a:rPr lang="zh-CN" altLang="en-US" sz="1400" dirty="0">
                <a:latin typeface="宋体" panose="02010600030101010101" pitchFamily="2" charset="-122"/>
                <a:ea typeface="宋体" panose="02010600030101010101" pitchFamily="2" charset="-122"/>
              </a:rPr>
              <a:t>资料来源：</a:t>
            </a:r>
            <a:r>
              <a:rPr lang="en-US" altLang="zh-CN" sz="1400" dirty="0">
                <a:latin typeface="宋体" panose="02010600030101010101" pitchFamily="2" charset="-122"/>
                <a:ea typeface="宋体" panose="02010600030101010101" pitchFamily="2" charset="-122"/>
                <a:cs typeface="Times New Roman" panose="02020603050405020304" pitchFamily="18" charset="0"/>
              </a:rPr>
              <a:t> </a:t>
            </a:r>
            <a:r>
              <a:rPr lang="zh-CN" altLang="en-US" sz="1400" dirty="0">
                <a:latin typeface="宋体" panose="02010600030101010101" pitchFamily="2" charset="-122"/>
                <a:ea typeface="宋体" panose="02010600030101010101" pitchFamily="2" charset="-122"/>
                <a:cs typeface="Times New Roman" panose="02020603050405020304" pitchFamily="18" charset="0"/>
              </a:rPr>
              <a:t>浙商证券</a:t>
            </a:r>
            <a:endParaRPr lang="zh-CN" altLang="en-US" sz="1400" dirty="0">
              <a:latin typeface="宋体" panose="02010600030101010101" pitchFamily="2" charset="-122"/>
              <a:ea typeface="宋体" panose="02010600030101010101" pitchFamily="2" charset="-122"/>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flipH="1">
            <a:off x="224085" y="159798"/>
            <a:ext cx="4907207" cy="369332"/>
          </a:xfrm>
          <a:prstGeom prst="rect">
            <a:avLst/>
          </a:prstGeom>
          <a:noFill/>
        </p:spPr>
        <p:txBody>
          <a:bodyPr wrap="square" rtlCol="0">
            <a:spAutoFit/>
          </a:bodyPr>
          <a:lstStyle/>
          <a:p>
            <a:r>
              <a:rPr lang="zh-CN" altLang="en-US" b="1" dirty="0">
                <a:latin typeface="宋体" panose="02010600030101010101" pitchFamily="2" charset="-122"/>
                <a:ea typeface="宋体" panose="02010600030101010101" pitchFamily="2" charset="-122"/>
              </a:rPr>
              <a:t>算力芯片</a:t>
            </a:r>
            <a:r>
              <a:rPr lang="en-US" altLang="zh-CN" b="1" dirty="0">
                <a:latin typeface="宋体" panose="02010600030101010101" pitchFamily="2" charset="-122"/>
                <a:ea typeface="宋体" panose="02010600030101010101" pitchFamily="2" charset="-122"/>
              </a:rPr>
              <a:t>ASIC</a:t>
            </a:r>
            <a:r>
              <a:rPr lang="zh-CN" altLang="en-US" b="1" dirty="0">
                <a:latin typeface="宋体" panose="02010600030101010101" pitchFamily="2" charset="-122"/>
                <a:ea typeface="宋体" panose="02010600030101010101" pitchFamily="2" charset="-122"/>
              </a:rPr>
              <a:t>化带来的投资机会</a:t>
            </a:r>
            <a:endParaRPr lang="zh-CN" altLang="en-US" b="1" dirty="0">
              <a:latin typeface="宋体" panose="02010600030101010101" pitchFamily="2" charset="-122"/>
              <a:ea typeface="宋体" panose="02010600030101010101" pitchFamily="2" charset="-122"/>
            </a:endParaRPr>
          </a:p>
        </p:txBody>
      </p:sp>
      <p:sp>
        <p:nvSpPr>
          <p:cNvPr id="14" name="文本框 13"/>
          <p:cNvSpPr txBox="1"/>
          <p:nvPr/>
        </p:nvSpPr>
        <p:spPr>
          <a:xfrm>
            <a:off x="224085" y="593846"/>
            <a:ext cx="11648496" cy="923330"/>
          </a:xfrm>
          <a:prstGeom prst="rect">
            <a:avLst/>
          </a:prstGeom>
          <a:noFill/>
        </p:spPr>
        <p:txBody>
          <a:bodyPr wrap="square">
            <a:spAutoFit/>
          </a:bodyPr>
          <a:lstStyle/>
          <a:p>
            <a:pPr marL="285750" indent="-285750">
              <a:buFont typeface="Wingdings" panose="05000000000000000000" pitchFamily="2" charset="2"/>
              <a:buChar char="u"/>
            </a:pPr>
            <a:r>
              <a:rPr lang="en-US" altLang="zh-CN" dirty="0">
                <a:ea typeface="+mn-lt"/>
                <a:cs typeface="+mn-lt"/>
              </a:rPr>
              <a:t>Marvell</a:t>
            </a:r>
            <a:r>
              <a:rPr lang="zh-CN" altLang="en-US" dirty="0">
                <a:ea typeface="+mn-lt"/>
                <a:cs typeface="+mn-lt"/>
              </a:rPr>
              <a:t>预计</a:t>
            </a:r>
            <a:r>
              <a:rPr lang="en-US" altLang="zh-CN" dirty="0">
                <a:ea typeface="+mn-lt"/>
                <a:cs typeface="+mn-lt"/>
              </a:rPr>
              <a:t>2028</a:t>
            </a:r>
            <a:r>
              <a:rPr lang="zh-CN" altLang="en-US" dirty="0">
                <a:ea typeface="+mn-lt"/>
                <a:cs typeface="+mn-lt"/>
              </a:rPr>
              <a:t>年全球定制算力芯片市场规模将达</a:t>
            </a:r>
            <a:r>
              <a:rPr lang="en-US" altLang="zh-CN" dirty="0">
                <a:ea typeface="+mn-lt"/>
                <a:cs typeface="+mn-lt"/>
              </a:rPr>
              <a:t>408</a:t>
            </a:r>
            <a:r>
              <a:rPr lang="zh-CN" altLang="en-US" dirty="0">
                <a:ea typeface="+mn-lt"/>
                <a:cs typeface="+mn-lt"/>
              </a:rPr>
              <a:t>亿美元，</a:t>
            </a:r>
            <a:r>
              <a:rPr lang="en-US" altLang="zh-CN" dirty="0">
                <a:ea typeface="+mn-lt"/>
                <a:cs typeface="+mn-lt"/>
              </a:rPr>
              <a:t>23-28</a:t>
            </a:r>
            <a:r>
              <a:rPr lang="zh-CN" altLang="en-US" dirty="0">
                <a:ea typeface="+mn-lt"/>
                <a:cs typeface="+mn-lt"/>
              </a:rPr>
              <a:t>年</a:t>
            </a:r>
            <a:r>
              <a:rPr lang="en-US" altLang="zh-CN" dirty="0">
                <a:ea typeface="+mn-lt"/>
                <a:cs typeface="+mn-lt"/>
              </a:rPr>
              <a:t>CAGR</a:t>
            </a:r>
            <a:r>
              <a:rPr lang="zh-CN" altLang="en-US" dirty="0">
                <a:ea typeface="+mn-lt"/>
                <a:cs typeface="+mn-lt"/>
              </a:rPr>
              <a:t>为</a:t>
            </a:r>
            <a:r>
              <a:rPr lang="en-US" altLang="zh-CN" dirty="0">
                <a:ea typeface="+mn-lt"/>
                <a:cs typeface="+mn-lt"/>
              </a:rPr>
              <a:t>53%</a:t>
            </a:r>
            <a:r>
              <a:rPr lang="zh-CN" altLang="en-US" dirty="0">
                <a:ea typeface="+mn-lt"/>
                <a:cs typeface="+mn-lt"/>
              </a:rPr>
              <a:t>。博通预计</a:t>
            </a:r>
            <a:r>
              <a:rPr lang="en-US" altLang="zh-CN" dirty="0">
                <a:ea typeface="+mn-lt"/>
                <a:cs typeface="+mn-lt"/>
              </a:rPr>
              <a:t>27</a:t>
            </a:r>
            <a:r>
              <a:rPr lang="zh-CN" altLang="en-US" dirty="0">
                <a:ea typeface="+mn-lt"/>
                <a:cs typeface="+mn-lt"/>
              </a:rPr>
              <a:t>年全球定制化算力芯片市场规模可达</a:t>
            </a:r>
            <a:r>
              <a:rPr lang="en-US" altLang="zh-CN" dirty="0">
                <a:ea typeface="+mn-lt"/>
                <a:cs typeface="+mn-lt"/>
              </a:rPr>
              <a:t>600-900</a:t>
            </a:r>
            <a:r>
              <a:rPr lang="zh-CN" altLang="en-US" dirty="0">
                <a:ea typeface="+mn-lt"/>
                <a:cs typeface="+mn-lt"/>
              </a:rPr>
              <a:t>亿美元。</a:t>
            </a:r>
            <a:endParaRPr lang="en-US" altLang="zh-CN" dirty="0">
              <a:ea typeface="+mn-lt"/>
              <a:cs typeface="+mn-lt"/>
            </a:endParaRPr>
          </a:p>
          <a:p>
            <a:pPr marL="285750" indent="-285750">
              <a:buFont typeface="Wingdings" panose="05000000000000000000" pitchFamily="2" charset="2"/>
              <a:buChar char="u"/>
            </a:pPr>
            <a:r>
              <a:rPr lang="zh-CN" altLang="en-US" dirty="0">
                <a:ea typeface="+mn-lt"/>
                <a:cs typeface="+mn-lt"/>
              </a:rPr>
              <a:t>算力芯片定制化（</a:t>
            </a:r>
            <a:r>
              <a:rPr lang="en-US" altLang="zh-CN" dirty="0">
                <a:ea typeface="+mn-lt"/>
                <a:cs typeface="+mn-lt"/>
              </a:rPr>
              <a:t>ASIC</a:t>
            </a:r>
            <a:r>
              <a:rPr lang="zh-CN" altLang="en-US" dirty="0">
                <a:ea typeface="+mn-lt"/>
                <a:cs typeface="+mn-lt"/>
              </a:rPr>
              <a:t>化）将带来较大的投资机会。</a:t>
            </a:r>
            <a:endParaRPr lang="zh-CN" altLang="en-US" dirty="0">
              <a:ea typeface="+mn-lt"/>
              <a:cs typeface="+mn-lt"/>
            </a:endParaRPr>
          </a:p>
        </p:txBody>
      </p:sp>
      <p:sp>
        <p:nvSpPr>
          <p:cNvPr id="6" name="文本框 5"/>
          <p:cNvSpPr txBox="1"/>
          <p:nvPr/>
        </p:nvSpPr>
        <p:spPr>
          <a:xfrm>
            <a:off x="3028493" y="1878898"/>
            <a:ext cx="6135014" cy="338554"/>
          </a:xfrm>
          <a:prstGeom prst="rect">
            <a:avLst/>
          </a:prstGeom>
          <a:noFill/>
        </p:spPr>
        <p:txBody>
          <a:bodyPr wrap="none" rtlCol="0">
            <a:spAutoFit/>
          </a:bodyPr>
          <a:lstStyle/>
          <a:p>
            <a:pPr algn="ctr"/>
            <a:r>
              <a:rPr lang="zh-CN" altLang="en-US" sz="1600" b="1" dirty="0"/>
              <a:t>定制芯片市场规模（左图）及定制算力芯片市场规模（右图）预测</a:t>
            </a:r>
            <a:endParaRPr lang="zh-CN" altLang="en-US" sz="1600" b="1" dirty="0"/>
          </a:p>
        </p:txBody>
      </p:sp>
      <p:grpSp>
        <p:nvGrpSpPr>
          <p:cNvPr id="8" name="组合 7"/>
          <p:cNvGrpSpPr/>
          <p:nvPr/>
        </p:nvGrpSpPr>
        <p:grpSpPr>
          <a:xfrm>
            <a:off x="73563" y="2495748"/>
            <a:ext cx="12012625" cy="3082088"/>
            <a:chOff x="342013" y="2898464"/>
            <a:chExt cx="10524806" cy="2700357"/>
          </a:xfrm>
        </p:grpSpPr>
        <p:pic>
          <p:nvPicPr>
            <p:cNvPr id="4" name="图片 3"/>
            <p:cNvPicPr>
              <a:picLocks noChangeAspect="1"/>
            </p:cNvPicPr>
            <p:nvPr/>
          </p:nvPicPr>
          <p:blipFill>
            <a:blip r:embed="rId1"/>
            <a:stretch>
              <a:fillRect/>
            </a:stretch>
          </p:blipFill>
          <p:spPr>
            <a:xfrm>
              <a:off x="342013" y="2898464"/>
              <a:ext cx="6353221" cy="2700357"/>
            </a:xfrm>
            <a:prstGeom prst="rect">
              <a:avLst/>
            </a:prstGeom>
          </p:spPr>
        </p:pic>
        <p:pic>
          <p:nvPicPr>
            <p:cNvPr id="7" name="图片 6"/>
            <p:cNvPicPr>
              <a:picLocks noChangeAspect="1"/>
            </p:cNvPicPr>
            <p:nvPr/>
          </p:nvPicPr>
          <p:blipFill>
            <a:blip r:embed="rId2"/>
            <a:stretch>
              <a:fillRect/>
            </a:stretch>
          </p:blipFill>
          <p:spPr>
            <a:xfrm>
              <a:off x="6771039" y="2903226"/>
              <a:ext cx="4095780" cy="2690832"/>
            </a:xfrm>
            <a:prstGeom prst="rect">
              <a:avLst/>
            </a:prstGeom>
          </p:spPr>
        </p:pic>
      </p:grpSp>
      <p:sp>
        <p:nvSpPr>
          <p:cNvPr id="9" name="文本框 8"/>
          <p:cNvSpPr txBox="1"/>
          <p:nvPr/>
        </p:nvSpPr>
        <p:spPr>
          <a:xfrm>
            <a:off x="5591176" y="6110265"/>
            <a:ext cx="6369916" cy="307777"/>
          </a:xfrm>
          <a:prstGeom prst="rect">
            <a:avLst/>
          </a:prstGeom>
          <a:noFill/>
        </p:spPr>
        <p:txBody>
          <a:bodyPr wrap="square">
            <a:spAutoFit/>
          </a:bodyPr>
          <a:lstStyle/>
          <a:p>
            <a:pPr algn="r"/>
            <a:r>
              <a:rPr lang="zh-CN" altLang="en-US" sz="1400" dirty="0">
                <a:latin typeface="宋体" panose="02010600030101010101" pitchFamily="2" charset="-122"/>
                <a:ea typeface="宋体" panose="02010600030101010101" pitchFamily="2" charset="-122"/>
              </a:rPr>
              <a:t>资料来源：</a:t>
            </a:r>
            <a:r>
              <a:rPr lang="en-US" altLang="zh-CN" sz="1400" dirty="0">
                <a:latin typeface="宋体" panose="02010600030101010101" pitchFamily="2" charset="-122"/>
                <a:ea typeface="宋体" panose="02010600030101010101" pitchFamily="2" charset="-122"/>
                <a:cs typeface="Times New Roman" panose="02020603050405020304" pitchFamily="18" charset="0"/>
              </a:rPr>
              <a:t> Marvell</a:t>
            </a:r>
            <a:r>
              <a:rPr lang="zh-CN" altLang="en-US" sz="1400" dirty="0">
                <a:latin typeface="宋体" panose="02010600030101010101" pitchFamily="2" charset="-122"/>
                <a:ea typeface="宋体" panose="02010600030101010101" pitchFamily="2" charset="-122"/>
                <a:cs typeface="Times New Roman" panose="02020603050405020304" pitchFamily="18" charset="0"/>
              </a:rPr>
              <a:t>，博通，浙商证券</a:t>
            </a:r>
            <a:endParaRPr lang="zh-CN" altLang="en-US" sz="1400" dirty="0">
              <a:latin typeface="宋体" panose="02010600030101010101" pitchFamily="2" charset="-122"/>
              <a:ea typeface="宋体" panose="02010600030101010101" pitchFamily="2" charset="-122"/>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flipH="1">
            <a:off x="224084" y="159798"/>
            <a:ext cx="7285366" cy="369332"/>
          </a:xfrm>
          <a:prstGeom prst="rect">
            <a:avLst/>
          </a:prstGeom>
          <a:noFill/>
        </p:spPr>
        <p:txBody>
          <a:bodyPr wrap="square" rtlCol="0">
            <a:spAutoFit/>
          </a:bodyPr>
          <a:lstStyle/>
          <a:p>
            <a:r>
              <a:rPr lang="zh-CN" altLang="en-US" b="1" dirty="0">
                <a:latin typeface="宋体" panose="02010600030101010101" pitchFamily="2" charset="-122"/>
                <a:ea typeface="宋体" panose="02010600030101010101" pitchFamily="2" charset="-122"/>
              </a:rPr>
              <a:t>算力芯片</a:t>
            </a:r>
            <a:r>
              <a:rPr lang="en-US" altLang="zh-CN" b="1" dirty="0">
                <a:latin typeface="宋体" panose="02010600030101010101" pitchFamily="2" charset="-122"/>
                <a:ea typeface="宋体" panose="02010600030101010101" pitchFamily="2" charset="-122"/>
              </a:rPr>
              <a:t>ASIC</a:t>
            </a:r>
            <a:r>
              <a:rPr lang="zh-CN" altLang="en-US" b="1" dirty="0">
                <a:latin typeface="宋体" panose="02010600030101010101" pitchFamily="2" charset="-122"/>
                <a:ea typeface="宋体" panose="02010600030101010101" pitchFamily="2" charset="-122"/>
              </a:rPr>
              <a:t>化带来的投资机会：</a:t>
            </a:r>
            <a:r>
              <a:rPr lang="en-US" altLang="zh-CN" b="1" dirty="0">
                <a:latin typeface="宋体" panose="02010600030101010101" pitchFamily="2" charset="-122"/>
                <a:ea typeface="宋体" panose="02010600030101010101" pitchFamily="2" charset="-122"/>
              </a:rPr>
              <a:t>FAB</a:t>
            </a:r>
            <a:r>
              <a:rPr lang="zh-CN" altLang="en-US" b="1" dirty="0">
                <a:latin typeface="宋体" panose="02010600030101010101" pitchFamily="2" charset="-122"/>
                <a:ea typeface="宋体" panose="02010600030101010101" pitchFamily="2" charset="-122"/>
              </a:rPr>
              <a:t>厂价值重估</a:t>
            </a:r>
            <a:endParaRPr lang="zh-CN" altLang="en-US" b="1" dirty="0">
              <a:latin typeface="宋体" panose="02010600030101010101" pitchFamily="2" charset="-122"/>
              <a:ea typeface="宋体" panose="02010600030101010101" pitchFamily="2" charset="-122"/>
            </a:endParaRPr>
          </a:p>
        </p:txBody>
      </p:sp>
      <p:sp>
        <p:nvSpPr>
          <p:cNvPr id="14" name="文本框 13"/>
          <p:cNvSpPr txBox="1"/>
          <p:nvPr/>
        </p:nvSpPr>
        <p:spPr>
          <a:xfrm>
            <a:off x="224085" y="593846"/>
            <a:ext cx="11648496" cy="923330"/>
          </a:xfrm>
          <a:prstGeom prst="rect">
            <a:avLst/>
          </a:prstGeom>
          <a:noFill/>
        </p:spPr>
        <p:txBody>
          <a:bodyPr wrap="square">
            <a:spAutoFit/>
          </a:bodyPr>
          <a:lstStyle/>
          <a:p>
            <a:pPr marL="285750" indent="-285750">
              <a:buFont typeface="Wingdings" panose="05000000000000000000" pitchFamily="2" charset="2"/>
              <a:buChar char="u"/>
            </a:pPr>
            <a:r>
              <a:rPr lang="zh-CN" altLang="en-US" dirty="0">
                <a:ea typeface="+mn-lt"/>
                <a:cs typeface="+mn-lt"/>
              </a:rPr>
              <a:t>台积电面对的算力芯片客户将从英伟达</a:t>
            </a:r>
            <a:r>
              <a:rPr lang="en-US" altLang="zh-CN" dirty="0">
                <a:ea typeface="+mn-lt"/>
                <a:cs typeface="+mn-lt"/>
              </a:rPr>
              <a:t>/AMD</a:t>
            </a:r>
            <a:r>
              <a:rPr lang="zh-CN" altLang="en-US" dirty="0">
                <a:ea typeface="+mn-lt"/>
                <a:cs typeface="+mn-lt"/>
              </a:rPr>
              <a:t>为主，变得更为分散，议价能力有望进一步提高；当前国际形势下，国内互联网巨头的</a:t>
            </a:r>
            <a:r>
              <a:rPr lang="en-US" altLang="zh-CN" dirty="0">
                <a:ea typeface="+mn-lt"/>
                <a:cs typeface="+mn-lt"/>
              </a:rPr>
              <a:t>ASIC</a:t>
            </a:r>
            <a:r>
              <a:rPr lang="zh-CN" altLang="en-US" dirty="0">
                <a:ea typeface="+mn-lt"/>
                <a:cs typeface="+mn-lt"/>
              </a:rPr>
              <a:t>芯片代工将优先考虑中芯国际，有望带来中芯国际的营收增长和利润提升。整体而言，</a:t>
            </a:r>
            <a:r>
              <a:rPr lang="en-US" altLang="zh-CN" dirty="0">
                <a:ea typeface="+mn-lt"/>
                <a:cs typeface="+mn-lt"/>
              </a:rPr>
              <a:t>FAB</a:t>
            </a:r>
            <a:r>
              <a:rPr lang="zh-CN" altLang="en-US" dirty="0">
                <a:ea typeface="+mn-lt"/>
                <a:cs typeface="+mn-lt"/>
              </a:rPr>
              <a:t>厂（晶圆代工厂）的价值有望得到重估。</a:t>
            </a:r>
            <a:endParaRPr lang="zh-CN" altLang="en-US" dirty="0">
              <a:ea typeface="+mn-lt"/>
              <a:cs typeface="+mn-lt"/>
            </a:endParaRPr>
          </a:p>
        </p:txBody>
      </p:sp>
      <p:sp>
        <p:nvSpPr>
          <p:cNvPr id="6" name="文本框 5"/>
          <p:cNvSpPr txBox="1"/>
          <p:nvPr/>
        </p:nvSpPr>
        <p:spPr>
          <a:xfrm>
            <a:off x="5003046" y="1651483"/>
            <a:ext cx="2031326" cy="338554"/>
          </a:xfrm>
          <a:prstGeom prst="rect">
            <a:avLst/>
          </a:prstGeom>
          <a:noFill/>
        </p:spPr>
        <p:txBody>
          <a:bodyPr wrap="none" rtlCol="0">
            <a:spAutoFit/>
          </a:bodyPr>
          <a:lstStyle/>
          <a:p>
            <a:pPr algn="ctr"/>
            <a:r>
              <a:rPr lang="zh-CN" altLang="en-US" sz="1600" b="1" dirty="0"/>
              <a:t>算力芯片产业链重构</a:t>
            </a:r>
            <a:endParaRPr lang="zh-CN" altLang="en-US" sz="1600" b="1" dirty="0"/>
          </a:p>
        </p:txBody>
      </p:sp>
      <p:pic>
        <p:nvPicPr>
          <p:cNvPr id="12290" name="Picture 2"/>
          <p:cNvPicPr>
            <a:picLocks noChangeAspect="1" noChangeArrowheads="1"/>
          </p:cNvPicPr>
          <p:nvPr/>
        </p:nvPicPr>
        <p:blipFill rotWithShape="1">
          <a:blip r:embed="rId1" cstate="print">
            <a:extLst>
              <a:ext uri="{28A0092B-C50C-407E-A947-70E740481C1C}">
                <a14:useLocalDpi xmlns:a14="http://schemas.microsoft.com/office/drawing/2010/main" val="0"/>
              </a:ext>
            </a:extLst>
          </a:blip>
          <a:srcRect l="20547" r="21654"/>
          <a:stretch>
            <a:fillRect/>
          </a:stretch>
        </p:blipFill>
        <p:spPr bwMode="auto">
          <a:xfrm>
            <a:off x="586869" y="2975923"/>
            <a:ext cx="2705297" cy="2735759"/>
          </a:xfrm>
          <a:prstGeom prst="rect">
            <a:avLst/>
          </a:prstGeom>
          <a:noFill/>
          <a:extLst>
            <a:ext uri="{909E8E84-426E-40DD-AFC4-6F175D3DCCD1}">
              <a14:hiddenFill xmlns:a14="http://schemas.microsoft.com/office/drawing/2010/main">
                <a:solidFill>
                  <a:srgbClr val="FFFFFF"/>
                </a:solidFill>
              </a14:hiddenFill>
            </a:ext>
          </a:extLst>
        </p:spPr>
      </p:pic>
      <p:pic>
        <p:nvPicPr>
          <p:cNvPr id="12292" name="Picture 4"/>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17657" r="14015"/>
          <a:stretch>
            <a:fillRect/>
          </a:stretch>
        </p:blipFill>
        <p:spPr bwMode="auto">
          <a:xfrm>
            <a:off x="4374930" y="2911729"/>
            <a:ext cx="3277093" cy="2697855"/>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sp>
        <p:nvSpPr>
          <p:cNvPr id="3" name="箭头: 左右 2"/>
          <p:cNvSpPr/>
          <p:nvPr/>
        </p:nvSpPr>
        <p:spPr>
          <a:xfrm>
            <a:off x="3207695" y="4060315"/>
            <a:ext cx="1170243" cy="313409"/>
          </a:xfrm>
          <a:prstGeom prst="lef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2294" name="Picture 6"/>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921324" y="1856042"/>
            <a:ext cx="2117402" cy="808914"/>
          </a:xfrm>
          <a:prstGeom prst="rect">
            <a:avLst/>
          </a:prstGeom>
          <a:noFill/>
          <a:extLst>
            <a:ext uri="{909E8E84-426E-40DD-AFC4-6F175D3DCCD1}">
              <a14:hiddenFill xmlns:a14="http://schemas.microsoft.com/office/drawing/2010/main">
                <a:solidFill>
                  <a:srgbClr val="FFFFFF"/>
                </a:solidFill>
              </a14:hiddenFill>
            </a:ext>
          </a:extLst>
        </p:spPr>
      </p:pic>
      <p:pic>
        <p:nvPicPr>
          <p:cNvPr id="12296" name="Picture 8"/>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l="18888" t="18707" r="22423" b="20520"/>
          <a:stretch>
            <a:fillRect/>
          </a:stretch>
        </p:blipFill>
        <p:spPr bwMode="auto">
          <a:xfrm>
            <a:off x="8921324" y="2982338"/>
            <a:ext cx="2047806" cy="1295702"/>
          </a:xfrm>
          <a:prstGeom prst="rect">
            <a:avLst/>
          </a:prstGeom>
          <a:noFill/>
          <a:extLst>
            <a:ext uri="{909E8E84-426E-40DD-AFC4-6F175D3DCCD1}">
              <a14:hiddenFill xmlns:a14="http://schemas.microsoft.com/office/drawing/2010/main">
                <a:solidFill>
                  <a:srgbClr val="FFFFFF"/>
                </a:solidFill>
              </a14:hiddenFill>
            </a:ext>
          </a:extLst>
        </p:spPr>
      </p:pic>
      <p:pic>
        <p:nvPicPr>
          <p:cNvPr id="12298" name="Picture 10"/>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l="6388" t="26034" r="7834" b="36027"/>
          <a:stretch>
            <a:fillRect/>
          </a:stretch>
        </p:blipFill>
        <p:spPr bwMode="auto">
          <a:xfrm>
            <a:off x="8819258" y="4595422"/>
            <a:ext cx="2321534" cy="614105"/>
          </a:xfrm>
          <a:prstGeom prst="rect">
            <a:avLst/>
          </a:prstGeom>
          <a:noFill/>
          <a:extLst>
            <a:ext uri="{909E8E84-426E-40DD-AFC4-6F175D3DCCD1}">
              <a14:hiddenFill xmlns:a14="http://schemas.microsoft.com/office/drawing/2010/main">
                <a:solidFill>
                  <a:srgbClr val="FFFFFF"/>
                </a:solidFill>
              </a14:hiddenFill>
            </a:ext>
          </a:extLst>
        </p:spPr>
      </p:pic>
      <p:pic>
        <p:nvPicPr>
          <p:cNvPr id="12302" name="Picture 14"/>
          <p:cNvPicPr>
            <a:picLocks noChangeAspect="1" noChangeArrowheads="1"/>
          </p:cNvPicPr>
          <p:nvPr/>
        </p:nvPicPr>
        <p:blipFill rotWithShape="1">
          <a:blip r:embed="rId6" cstate="print">
            <a:extLst>
              <a:ext uri="{28A0092B-C50C-407E-A947-70E740481C1C}">
                <a14:useLocalDpi xmlns:a14="http://schemas.microsoft.com/office/drawing/2010/main" val="0"/>
              </a:ext>
            </a:extLst>
          </a:blip>
          <a:srcRect l="13287" t="24850" r="9081" b="27775"/>
          <a:stretch>
            <a:fillRect/>
          </a:stretch>
        </p:blipFill>
        <p:spPr bwMode="auto">
          <a:xfrm>
            <a:off x="8819258" y="5746981"/>
            <a:ext cx="2380959" cy="767528"/>
          </a:xfrm>
          <a:prstGeom prst="rect">
            <a:avLst/>
          </a:prstGeom>
          <a:noFill/>
          <a:extLst>
            <a:ext uri="{909E8E84-426E-40DD-AFC4-6F175D3DCCD1}">
              <a14:hiddenFill xmlns:a14="http://schemas.microsoft.com/office/drawing/2010/main">
                <a:solidFill>
                  <a:srgbClr val="FFFFFF"/>
                </a:solidFill>
              </a14:hiddenFill>
            </a:ext>
          </a:extLst>
        </p:spPr>
      </p:pic>
      <p:sp>
        <p:nvSpPr>
          <p:cNvPr id="4" name="箭头: 右 3"/>
          <p:cNvSpPr/>
          <p:nvPr/>
        </p:nvSpPr>
        <p:spPr>
          <a:xfrm rot="19893459">
            <a:off x="7632799" y="2520452"/>
            <a:ext cx="772265" cy="289008"/>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箭头: 右 4"/>
          <p:cNvSpPr/>
          <p:nvPr/>
        </p:nvSpPr>
        <p:spPr>
          <a:xfrm>
            <a:off x="7615307" y="3689910"/>
            <a:ext cx="772265" cy="289008"/>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箭头: 右 6"/>
          <p:cNvSpPr/>
          <p:nvPr/>
        </p:nvSpPr>
        <p:spPr>
          <a:xfrm rot="522766">
            <a:off x="7596140" y="4556895"/>
            <a:ext cx="772265" cy="289008"/>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箭头: 右 7"/>
          <p:cNvSpPr/>
          <p:nvPr/>
        </p:nvSpPr>
        <p:spPr>
          <a:xfrm rot="1318854">
            <a:off x="7540208" y="5637090"/>
            <a:ext cx="772265" cy="289008"/>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flipH="1">
            <a:off x="224084" y="159798"/>
            <a:ext cx="7285366" cy="369332"/>
          </a:xfrm>
          <a:prstGeom prst="rect">
            <a:avLst/>
          </a:prstGeom>
          <a:noFill/>
        </p:spPr>
        <p:txBody>
          <a:bodyPr wrap="square" rtlCol="0">
            <a:spAutoFit/>
          </a:bodyPr>
          <a:lstStyle/>
          <a:p>
            <a:r>
              <a:rPr lang="zh-CN" altLang="en-US" b="1" dirty="0">
                <a:latin typeface="宋体" panose="02010600030101010101" pitchFamily="2" charset="-122"/>
                <a:ea typeface="宋体" panose="02010600030101010101" pitchFamily="2" charset="-122"/>
              </a:rPr>
              <a:t>算力芯片</a:t>
            </a:r>
            <a:r>
              <a:rPr lang="en-US" altLang="zh-CN" b="1" dirty="0">
                <a:latin typeface="宋体" panose="02010600030101010101" pitchFamily="2" charset="-122"/>
                <a:ea typeface="宋体" panose="02010600030101010101" pitchFamily="2" charset="-122"/>
              </a:rPr>
              <a:t>ASIC</a:t>
            </a:r>
            <a:r>
              <a:rPr lang="zh-CN" altLang="en-US" b="1" dirty="0">
                <a:latin typeface="宋体" panose="02010600030101010101" pitchFamily="2" charset="-122"/>
                <a:ea typeface="宋体" panose="02010600030101010101" pitchFamily="2" charset="-122"/>
              </a:rPr>
              <a:t>化带来的投资机会：芯片设计服务厂商崛起</a:t>
            </a:r>
            <a:endParaRPr lang="zh-CN" altLang="en-US" b="1" dirty="0">
              <a:latin typeface="宋体" panose="02010600030101010101" pitchFamily="2" charset="-122"/>
              <a:ea typeface="宋体" panose="02010600030101010101" pitchFamily="2" charset="-122"/>
            </a:endParaRPr>
          </a:p>
        </p:txBody>
      </p:sp>
      <p:sp>
        <p:nvSpPr>
          <p:cNvPr id="14" name="文本框 13"/>
          <p:cNvSpPr txBox="1"/>
          <p:nvPr/>
        </p:nvSpPr>
        <p:spPr>
          <a:xfrm>
            <a:off x="224085" y="593846"/>
            <a:ext cx="11648496" cy="646331"/>
          </a:xfrm>
          <a:prstGeom prst="rect">
            <a:avLst/>
          </a:prstGeom>
          <a:noFill/>
        </p:spPr>
        <p:txBody>
          <a:bodyPr wrap="square">
            <a:spAutoFit/>
          </a:bodyPr>
          <a:lstStyle/>
          <a:p>
            <a:pPr marL="285750" indent="-285750">
              <a:buFont typeface="Wingdings" panose="05000000000000000000" pitchFamily="2" charset="2"/>
              <a:buChar char="u"/>
            </a:pPr>
            <a:r>
              <a:rPr lang="zh-CN" altLang="en-US" dirty="0">
                <a:ea typeface="+mn-lt"/>
                <a:cs typeface="+mn-lt"/>
              </a:rPr>
              <a:t>集成电路发展至今，</a:t>
            </a:r>
            <a:r>
              <a:rPr lang="en-US" altLang="zh-CN" dirty="0">
                <a:ea typeface="+mn-lt"/>
                <a:cs typeface="+mn-lt"/>
              </a:rPr>
              <a:t>Fabless</a:t>
            </a:r>
            <a:r>
              <a:rPr lang="zh-CN" altLang="en-US" dirty="0">
                <a:ea typeface="+mn-lt"/>
                <a:cs typeface="+mn-lt"/>
              </a:rPr>
              <a:t>（垂直分工）模式已逐渐成为主流，替代传统的</a:t>
            </a:r>
            <a:r>
              <a:rPr lang="en-US" altLang="zh-CN" dirty="0">
                <a:ea typeface="+mn-lt"/>
                <a:cs typeface="+mn-lt"/>
              </a:rPr>
              <a:t>IDM</a:t>
            </a:r>
            <a:r>
              <a:rPr lang="zh-CN" altLang="en-US" dirty="0">
                <a:ea typeface="+mn-lt"/>
                <a:cs typeface="+mn-lt"/>
              </a:rPr>
              <a:t>（垂直整合）模式。同时随着产业的不断升级，产业链分工日益精细，</a:t>
            </a:r>
            <a:r>
              <a:rPr lang="zh-CN" altLang="en-US" dirty="0">
                <a:solidFill>
                  <a:srgbClr val="C00000"/>
                </a:solidFill>
                <a:ea typeface="+mn-lt"/>
                <a:cs typeface="+mn-lt"/>
              </a:rPr>
              <a:t>芯片设计服务公司</a:t>
            </a:r>
            <a:r>
              <a:rPr lang="zh-CN" altLang="en-US" dirty="0">
                <a:ea typeface="+mn-lt"/>
                <a:cs typeface="+mn-lt"/>
              </a:rPr>
              <a:t>应运而生。</a:t>
            </a:r>
            <a:endParaRPr lang="zh-CN" altLang="en-US" dirty="0">
              <a:ea typeface="+mn-lt"/>
              <a:cs typeface="+mn-lt"/>
            </a:endParaRPr>
          </a:p>
        </p:txBody>
      </p:sp>
      <p:sp>
        <p:nvSpPr>
          <p:cNvPr id="6" name="文本框 5"/>
          <p:cNvSpPr txBox="1"/>
          <p:nvPr/>
        </p:nvSpPr>
        <p:spPr>
          <a:xfrm>
            <a:off x="5237853" y="1690806"/>
            <a:ext cx="1620958" cy="338554"/>
          </a:xfrm>
          <a:prstGeom prst="rect">
            <a:avLst/>
          </a:prstGeom>
          <a:noFill/>
        </p:spPr>
        <p:txBody>
          <a:bodyPr wrap="none" rtlCol="0">
            <a:spAutoFit/>
          </a:bodyPr>
          <a:lstStyle/>
          <a:p>
            <a:pPr algn="ctr"/>
            <a:r>
              <a:rPr lang="zh-CN" altLang="en-US" sz="1600" b="1" dirty="0"/>
              <a:t>集成电路产业链</a:t>
            </a:r>
            <a:endParaRPr lang="zh-CN" altLang="en-US" sz="1600" b="1" dirty="0"/>
          </a:p>
        </p:txBody>
      </p:sp>
      <p:pic>
        <p:nvPicPr>
          <p:cNvPr id="7" name="图片 6"/>
          <p:cNvPicPr>
            <a:picLocks noChangeAspect="1"/>
          </p:cNvPicPr>
          <p:nvPr/>
        </p:nvPicPr>
        <p:blipFill>
          <a:blip r:embed="rId1"/>
          <a:stretch>
            <a:fillRect/>
          </a:stretch>
        </p:blipFill>
        <p:spPr>
          <a:xfrm>
            <a:off x="2093829" y="2280296"/>
            <a:ext cx="7909007" cy="3983858"/>
          </a:xfrm>
          <a:prstGeom prst="rect">
            <a:avLst/>
          </a:prstGeom>
        </p:spPr>
      </p:pic>
      <p:sp>
        <p:nvSpPr>
          <p:cNvPr id="8" name="星形: 五角 7"/>
          <p:cNvSpPr/>
          <p:nvPr/>
        </p:nvSpPr>
        <p:spPr>
          <a:xfrm>
            <a:off x="5799097" y="3903967"/>
            <a:ext cx="255842" cy="255842"/>
          </a:xfrm>
          <a:prstGeom prst="star5">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highlight>
                <a:srgbClr val="800000"/>
              </a:highlight>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flipH="1">
            <a:off x="224084" y="159798"/>
            <a:ext cx="7285366" cy="369332"/>
          </a:xfrm>
          <a:prstGeom prst="rect">
            <a:avLst/>
          </a:prstGeom>
          <a:noFill/>
        </p:spPr>
        <p:txBody>
          <a:bodyPr wrap="square" rtlCol="0">
            <a:spAutoFit/>
          </a:bodyPr>
          <a:lstStyle/>
          <a:p>
            <a:r>
              <a:rPr lang="zh-CN" altLang="en-US" b="1" dirty="0">
                <a:latin typeface="宋体" panose="02010600030101010101" pitchFamily="2" charset="-122"/>
                <a:ea typeface="宋体" panose="02010600030101010101" pitchFamily="2" charset="-122"/>
              </a:rPr>
              <a:t>算力芯片</a:t>
            </a:r>
            <a:r>
              <a:rPr lang="en-US" altLang="zh-CN" b="1" dirty="0">
                <a:latin typeface="宋体" panose="02010600030101010101" pitchFamily="2" charset="-122"/>
                <a:ea typeface="宋体" panose="02010600030101010101" pitchFamily="2" charset="-122"/>
              </a:rPr>
              <a:t>ASIC</a:t>
            </a:r>
            <a:r>
              <a:rPr lang="zh-CN" altLang="en-US" b="1" dirty="0">
                <a:latin typeface="宋体" panose="02010600030101010101" pitchFamily="2" charset="-122"/>
                <a:ea typeface="宋体" panose="02010600030101010101" pitchFamily="2" charset="-122"/>
              </a:rPr>
              <a:t>化带来的投资机会：芯片设计服务厂商崛起</a:t>
            </a:r>
            <a:endParaRPr lang="zh-CN" altLang="en-US" b="1" dirty="0">
              <a:latin typeface="宋体" panose="02010600030101010101" pitchFamily="2" charset="-122"/>
              <a:ea typeface="宋体" panose="02010600030101010101" pitchFamily="2" charset="-122"/>
            </a:endParaRPr>
          </a:p>
        </p:txBody>
      </p:sp>
      <p:sp>
        <p:nvSpPr>
          <p:cNvPr id="14" name="文本框 13"/>
          <p:cNvSpPr txBox="1"/>
          <p:nvPr/>
        </p:nvSpPr>
        <p:spPr>
          <a:xfrm>
            <a:off x="224085" y="593846"/>
            <a:ext cx="11648496" cy="646331"/>
          </a:xfrm>
          <a:prstGeom prst="rect">
            <a:avLst/>
          </a:prstGeom>
          <a:noFill/>
        </p:spPr>
        <p:txBody>
          <a:bodyPr wrap="square">
            <a:spAutoFit/>
          </a:bodyPr>
          <a:lstStyle/>
          <a:p>
            <a:pPr marL="285750" indent="-285750">
              <a:buFont typeface="Wingdings" panose="05000000000000000000" pitchFamily="2" charset="2"/>
              <a:buChar char="u"/>
            </a:pPr>
            <a:r>
              <a:rPr lang="zh-CN" altLang="en-US" dirty="0">
                <a:ea typeface="+mn-lt"/>
                <a:cs typeface="+mn-lt"/>
              </a:rPr>
              <a:t>芯片设计服务公司主要服务于芯片设计公司与系统厂商等客户，为其提供一站式芯片定制服务，并最终形成客户品牌产品（模式类似于医药行业的</a:t>
            </a:r>
            <a:r>
              <a:rPr lang="en-US" altLang="zh-CN" dirty="0">
                <a:ea typeface="+mn-lt"/>
                <a:cs typeface="+mn-lt"/>
              </a:rPr>
              <a:t>CRO</a:t>
            </a:r>
            <a:r>
              <a:rPr lang="zh-CN" altLang="en-US" dirty="0">
                <a:ea typeface="+mn-lt"/>
                <a:cs typeface="+mn-lt"/>
              </a:rPr>
              <a:t>）。</a:t>
            </a:r>
            <a:endParaRPr lang="zh-CN" altLang="en-US" dirty="0">
              <a:ea typeface="+mn-lt"/>
              <a:cs typeface="+mn-lt"/>
            </a:endParaRPr>
          </a:p>
        </p:txBody>
      </p:sp>
      <p:sp>
        <p:nvSpPr>
          <p:cNvPr id="6" name="文本框 5"/>
          <p:cNvSpPr txBox="1"/>
          <p:nvPr/>
        </p:nvSpPr>
        <p:spPr>
          <a:xfrm>
            <a:off x="4412829" y="1575678"/>
            <a:ext cx="3262433" cy="338554"/>
          </a:xfrm>
          <a:prstGeom prst="rect">
            <a:avLst/>
          </a:prstGeom>
          <a:noFill/>
        </p:spPr>
        <p:txBody>
          <a:bodyPr wrap="none" rtlCol="0">
            <a:spAutoFit/>
          </a:bodyPr>
          <a:lstStyle/>
          <a:p>
            <a:pPr algn="ctr"/>
            <a:r>
              <a:rPr lang="zh-CN" altLang="en-US" sz="1600" b="1" dirty="0"/>
              <a:t>芯片设计服务公司的主要客户类型</a:t>
            </a:r>
            <a:endParaRPr lang="zh-CN" altLang="en-US" sz="1600" b="1" dirty="0"/>
          </a:p>
        </p:txBody>
      </p:sp>
      <p:pic>
        <p:nvPicPr>
          <p:cNvPr id="4" name="图片 3"/>
          <p:cNvPicPr>
            <a:picLocks noChangeAspect="1"/>
          </p:cNvPicPr>
          <p:nvPr/>
        </p:nvPicPr>
        <p:blipFill>
          <a:blip r:embed="rId1"/>
          <a:stretch>
            <a:fillRect/>
          </a:stretch>
        </p:blipFill>
        <p:spPr>
          <a:xfrm>
            <a:off x="257081" y="1914232"/>
            <a:ext cx="11573931" cy="4406776"/>
          </a:xfrm>
          <a:prstGeom prst="rect">
            <a:avLst/>
          </a:prstGeom>
        </p:spPr>
      </p:pic>
      <p:sp>
        <p:nvSpPr>
          <p:cNvPr id="5" name="文本框 4"/>
          <p:cNvSpPr txBox="1"/>
          <p:nvPr/>
        </p:nvSpPr>
        <p:spPr>
          <a:xfrm>
            <a:off x="5591176" y="6431683"/>
            <a:ext cx="6369916" cy="307777"/>
          </a:xfrm>
          <a:prstGeom prst="rect">
            <a:avLst/>
          </a:prstGeom>
          <a:noFill/>
        </p:spPr>
        <p:txBody>
          <a:bodyPr wrap="square">
            <a:spAutoFit/>
          </a:bodyPr>
          <a:lstStyle/>
          <a:p>
            <a:pPr algn="r"/>
            <a:r>
              <a:rPr lang="zh-CN" altLang="en-US" sz="1400" dirty="0">
                <a:latin typeface="宋体" panose="02010600030101010101" pitchFamily="2" charset="-122"/>
                <a:ea typeface="宋体" panose="02010600030101010101" pitchFamily="2" charset="-122"/>
              </a:rPr>
              <a:t>资料来源：</a:t>
            </a:r>
            <a:r>
              <a:rPr lang="en-US" altLang="zh-CN" sz="1400" dirty="0">
                <a:latin typeface="宋体" panose="02010600030101010101" pitchFamily="2" charset="-122"/>
                <a:ea typeface="宋体" panose="02010600030101010101" pitchFamily="2" charset="-122"/>
                <a:cs typeface="Times New Roman" panose="02020603050405020304" pitchFamily="18" charset="0"/>
              </a:rPr>
              <a:t> </a:t>
            </a:r>
            <a:r>
              <a:rPr lang="zh-CN" altLang="en-US" sz="1400" dirty="0">
                <a:latin typeface="宋体" panose="02010600030101010101" pitchFamily="2" charset="-122"/>
                <a:ea typeface="宋体" panose="02010600030101010101" pitchFamily="2" charset="-122"/>
                <a:cs typeface="Times New Roman" panose="02020603050405020304" pitchFamily="18" charset="0"/>
              </a:rPr>
              <a:t>亿欧智库</a:t>
            </a:r>
            <a:endParaRPr lang="zh-CN" altLang="en-US" sz="1400" dirty="0">
              <a:latin typeface="宋体" panose="02010600030101010101" pitchFamily="2" charset="-122"/>
              <a:ea typeface="宋体" panose="02010600030101010101" pitchFamily="2" charset="-122"/>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flipH="1">
            <a:off x="224084" y="159798"/>
            <a:ext cx="7285366" cy="369332"/>
          </a:xfrm>
          <a:prstGeom prst="rect">
            <a:avLst/>
          </a:prstGeom>
          <a:noFill/>
        </p:spPr>
        <p:txBody>
          <a:bodyPr wrap="square" rtlCol="0">
            <a:spAutoFit/>
          </a:bodyPr>
          <a:lstStyle/>
          <a:p>
            <a:r>
              <a:rPr lang="zh-CN" altLang="en-US" b="1" dirty="0">
                <a:latin typeface="宋体" panose="02010600030101010101" pitchFamily="2" charset="-122"/>
                <a:ea typeface="宋体" panose="02010600030101010101" pitchFamily="2" charset="-122"/>
              </a:rPr>
              <a:t>算力芯片</a:t>
            </a:r>
            <a:r>
              <a:rPr lang="en-US" altLang="zh-CN" b="1" dirty="0">
                <a:latin typeface="宋体" panose="02010600030101010101" pitchFamily="2" charset="-122"/>
                <a:ea typeface="宋体" panose="02010600030101010101" pitchFamily="2" charset="-122"/>
              </a:rPr>
              <a:t>ASIC</a:t>
            </a:r>
            <a:r>
              <a:rPr lang="zh-CN" altLang="en-US" b="1" dirty="0">
                <a:latin typeface="宋体" panose="02010600030101010101" pitchFamily="2" charset="-122"/>
                <a:ea typeface="宋体" panose="02010600030101010101" pitchFamily="2" charset="-122"/>
              </a:rPr>
              <a:t>化带来的投资机会：芯片设计服务厂商崛起</a:t>
            </a:r>
            <a:endParaRPr lang="zh-CN" altLang="en-US" b="1" dirty="0">
              <a:latin typeface="宋体" panose="02010600030101010101" pitchFamily="2" charset="-122"/>
              <a:ea typeface="宋体" panose="02010600030101010101" pitchFamily="2" charset="-122"/>
            </a:endParaRPr>
          </a:p>
        </p:txBody>
      </p:sp>
      <p:sp>
        <p:nvSpPr>
          <p:cNvPr id="14" name="文本框 13"/>
          <p:cNvSpPr txBox="1"/>
          <p:nvPr/>
        </p:nvSpPr>
        <p:spPr>
          <a:xfrm>
            <a:off x="224085" y="593846"/>
            <a:ext cx="11648496" cy="923330"/>
          </a:xfrm>
          <a:prstGeom prst="rect">
            <a:avLst/>
          </a:prstGeom>
          <a:noFill/>
        </p:spPr>
        <p:txBody>
          <a:bodyPr wrap="square">
            <a:spAutoFit/>
          </a:bodyPr>
          <a:lstStyle/>
          <a:p>
            <a:pPr marL="285750" indent="-285750">
              <a:buFont typeface="Wingdings" panose="05000000000000000000" pitchFamily="2" charset="2"/>
              <a:buChar char="u"/>
            </a:pPr>
            <a:r>
              <a:rPr lang="en-US" altLang="zh-CN" dirty="0">
                <a:ea typeface="+mn-lt"/>
                <a:cs typeface="+mn-lt"/>
              </a:rPr>
              <a:t>IP</a:t>
            </a:r>
            <a:r>
              <a:rPr lang="zh-CN" altLang="en-US" dirty="0">
                <a:ea typeface="+mn-lt"/>
                <a:cs typeface="+mn-lt"/>
              </a:rPr>
              <a:t>授权是最早衍生出的芯片设计服务。芯片一般由自主设计部分与外购</a:t>
            </a:r>
            <a:r>
              <a:rPr lang="en-US" altLang="zh-CN" dirty="0">
                <a:ea typeface="+mn-lt"/>
                <a:cs typeface="+mn-lt"/>
              </a:rPr>
              <a:t>IP</a:t>
            </a:r>
            <a:r>
              <a:rPr lang="zh-CN" altLang="en-US" dirty="0">
                <a:ea typeface="+mn-lt"/>
                <a:cs typeface="+mn-lt"/>
              </a:rPr>
              <a:t>组合而成，通过使用多次验证且可重复使用的</a:t>
            </a:r>
            <a:r>
              <a:rPr lang="en-US" altLang="zh-CN" dirty="0">
                <a:ea typeface="+mn-lt"/>
                <a:cs typeface="+mn-lt"/>
              </a:rPr>
              <a:t>IP</a:t>
            </a:r>
            <a:r>
              <a:rPr lang="zh-CN" altLang="en-US" dirty="0">
                <a:ea typeface="+mn-lt"/>
                <a:cs typeface="+mn-lt"/>
              </a:rPr>
              <a:t>可以缩短芯片产品的上市周期，降低失败风险，提高投入产出效率。</a:t>
            </a:r>
            <a:endParaRPr lang="en-US" altLang="zh-CN" dirty="0">
              <a:ea typeface="+mn-lt"/>
              <a:cs typeface="+mn-lt"/>
            </a:endParaRPr>
          </a:p>
          <a:p>
            <a:pPr marL="285750" indent="-285750">
              <a:buFont typeface="Wingdings" panose="05000000000000000000" pitchFamily="2" charset="2"/>
              <a:buChar char="u"/>
            </a:pPr>
            <a:r>
              <a:rPr lang="zh-CN" altLang="en-US" dirty="0">
                <a:ea typeface="+mn-lt"/>
                <a:cs typeface="+mn-lt"/>
              </a:rPr>
              <a:t>当前的芯片设计服务除</a:t>
            </a:r>
            <a:r>
              <a:rPr lang="en-US" altLang="zh-CN" dirty="0">
                <a:ea typeface="+mn-lt"/>
                <a:cs typeface="+mn-lt"/>
              </a:rPr>
              <a:t>IP</a:t>
            </a:r>
            <a:r>
              <a:rPr lang="zh-CN" altLang="en-US" dirty="0">
                <a:ea typeface="+mn-lt"/>
                <a:cs typeface="+mn-lt"/>
              </a:rPr>
              <a:t>授权外，还包括设计服务、流片服务以及</a:t>
            </a:r>
            <a:r>
              <a:rPr lang="en-US" altLang="zh-CN" dirty="0">
                <a:ea typeface="+mn-lt"/>
                <a:cs typeface="+mn-lt"/>
              </a:rPr>
              <a:t>turnkey</a:t>
            </a:r>
            <a:r>
              <a:rPr lang="zh-CN" altLang="en-US" dirty="0">
                <a:ea typeface="+mn-lt"/>
                <a:cs typeface="+mn-lt"/>
              </a:rPr>
              <a:t>服务等，适用于不同类型需求及场景。</a:t>
            </a:r>
            <a:endParaRPr lang="zh-CN" altLang="en-US" dirty="0">
              <a:ea typeface="+mn-lt"/>
              <a:cs typeface="+mn-lt"/>
            </a:endParaRPr>
          </a:p>
        </p:txBody>
      </p:sp>
      <p:pic>
        <p:nvPicPr>
          <p:cNvPr id="4" name="图片 3"/>
          <p:cNvPicPr>
            <a:picLocks noChangeAspect="1"/>
          </p:cNvPicPr>
          <p:nvPr/>
        </p:nvPicPr>
        <p:blipFill>
          <a:blip r:embed="rId1"/>
          <a:stretch>
            <a:fillRect/>
          </a:stretch>
        </p:blipFill>
        <p:spPr>
          <a:xfrm>
            <a:off x="735568" y="1855730"/>
            <a:ext cx="4258099" cy="4822885"/>
          </a:xfrm>
          <a:prstGeom prst="rect">
            <a:avLst/>
          </a:prstGeom>
        </p:spPr>
      </p:pic>
      <p:sp>
        <p:nvSpPr>
          <p:cNvPr id="5" name="文本框 4"/>
          <p:cNvSpPr txBox="1"/>
          <p:nvPr/>
        </p:nvSpPr>
        <p:spPr>
          <a:xfrm>
            <a:off x="2066960" y="1517176"/>
            <a:ext cx="1595309" cy="338554"/>
          </a:xfrm>
          <a:prstGeom prst="rect">
            <a:avLst/>
          </a:prstGeom>
          <a:noFill/>
        </p:spPr>
        <p:txBody>
          <a:bodyPr wrap="none" rtlCol="0">
            <a:spAutoFit/>
          </a:bodyPr>
          <a:lstStyle/>
          <a:p>
            <a:pPr algn="ctr"/>
            <a:r>
              <a:rPr lang="zh-CN" altLang="en-US" sz="1600" b="1" dirty="0"/>
              <a:t>芯片外购</a:t>
            </a:r>
            <a:r>
              <a:rPr lang="en-US" altLang="zh-CN" sz="1600" b="1" dirty="0"/>
              <a:t>IP</a:t>
            </a:r>
            <a:r>
              <a:rPr lang="zh-CN" altLang="en-US" sz="1600" b="1" dirty="0"/>
              <a:t>占比</a:t>
            </a:r>
            <a:endParaRPr lang="zh-CN" altLang="en-US" sz="1600" b="1" dirty="0"/>
          </a:p>
        </p:txBody>
      </p:sp>
      <p:pic>
        <p:nvPicPr>
          <p:cNvPr id="8" name="图片 7"/>
          <p:cNvPicPr>
            <a:picLocks noChangeAspect="1"/>
          </p:cNvPicPr>
          <p:nvPr/>
        </p:nvPicPr>
        <p:blipFill>
          <a:blip r:embed="rId2"/>
          <a:stretch>
            <a:fillRect/>
          </a:stretch>
        </p:blipFill>
        <p:spPr>
          <a:xfrm>
            <a:off x="5941093" y="1855730"/>
            <a:ext cx="3913067" cy="4773809"/>
          </a:xfrm>
          <a:prstGeom prst="rect">
            <a:avLst/>
          </a:prstGeom>
        </p:spPr>
      </p:pic>
      <p:sp>
        <p:nvSpPr>
          <p:cNvPr id="9" name="文本框 8"/>
          <p:cNvSpPr txBox="1"/>
          <p:nvPr/>
        </p:nvSpPr>
        <p:spPr>
          <a:xfrm>
            <a:off x="6984555" y="1517176"/>
            <a:ext cx="1826141" cy="338554"/>
          </a:xfrm>
          <a:prstGeom prst="rect">
            <a:avLst/>
          </a:prstGeom>
          <a:noFill/>
        </p:spPr>
        <p:txBody>
          <a:bodyPr wrap="none" rtlCol="0">
            <a:spAutoFit/>
          </a:bodyPr>
          <a:lstStyle/>
          <a:p>
            <a:pPr algn="ctr"/>
            <a:r>
              <a:rPr lang="zh-CN" altLang="en-US" sz="1600" b="1" dirty="0"/>
              <a:t>芯片设计服务类型</a:t>
            </a:r>
            <a:endParaRPr lang="zh-CN" altLang="en-US" sz="1600" b="1" dirty="0"/>
          </a:p>
        </p:txBody>
      </p:sp>
      <p:sp>
        <p:nvSpPr>
          <p:cNvPr id="10" name="文本框 9"/>
          <p:cNvSpPr txBox="1"/>
          <p:nvPr/>
        </p:nvSpPr>
        <p:spPr>
          <a:xfrm>
            <a:off x="5586437" y="6441160"/>
            <a:ext cx="6369916" cy="307777"/>
          </a:xfrm>
          <a:prstGeom prst="rect">
            <a:avLst/>
          </a:prstGeom>
          <a:noFill/>
        </p:spPr>
        <p:txBody>
          <a:bodyPr wrap="square">
            <a:spAutoFit/>
          </a:bodyPr>
          <a:lstStyle/>
          <a:p>
            <a:pPr algn="r"/>
            <a:r>
              <a:rPr lang="zh-CN" altLang="en-US" sz="1400" dirty="0">
                <a:latin typeface="宋体" panose="02010600030101010101" pitchFamily="2" charset="-122"/>
                <a:ea typeface="宋体" panose="02010600030101010101" pitchFamily="2" charset="-122"/>
              </a:rPr>
              <a:t>资料来源：</a:t>
            </a:r>
            <a:r>
              <a:rPr lang="en-US" altLang="zh-CN" sz="1400" dirty="0">
                <a:latin typeface="宋体" panose="02010600030101010101" pitchFamily="2" charset="-122"/>
                <a:ea typeface="宋体" panose="02010600030101010101" pitchFamily="2" charset="-122"/>
                <a:cs typeface="Times New Roman" panose="02020603050405020304" pitchFamily="18" charset="0"/>
              </a:rPr>
              <a:t> </a:t>
            </a:r>
            <a:r>
              <a:rPr lang="zh-CN" altLang="en-US" sz="1400" dirty="0">
                <a:latin typeface="宋体" panose="02010600030101010101" pitchFamily="2" charset="-122"/>
                <a:ea typeface="宋体" panose="02010600030101010101" pitchFamily="2" charset="-122"/>
                <a:cs typeface="Times New Roman" panose="02020603050405020304" pitchFamily="18" charset="0"/>
              </a:rPr>
              <a:t>亿欧智库</a:t>
            </a:r>
            <a:endParaRPr lang="zh-CN" altLang="en-US" sz="1400" dirty="0">
              <a:latin typeface="宋体" panose="02010600030101010101" pitchFamily="2" charset="-122"/>
              <a:ea typeface="宋体" panose="02010600030101010101" pitchFamily="2" charset="-122"/>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flipH="1">
            <a:off x="224084" y="159798"/>
            <a:ext cx="7285366" cy="369332"/>
          </a:xfrm>
          <a:prstGeom prst="rect">
            <a:avLst/>
          </a:prstGeom>
          <a:noFill/>
        </p:spPr>
        <p:txBody>
          <a:bodyPr wrap="square" rtlCol="0">
            <a:spAutoFit/>
          </a:bodyPr>
          <a:lstStyle/>
          <a:p>
            <a:r>
              <a:rPr lang="zh-CN" altLang="en-US" b="1" dirty="0">
                <a:latin typeface="宋体" panose="02010600030101010101" pitchFamily="2" charset="-122"/>
                <a:ea typeface="宋体" panose="02010600030101010101" pitchFamily="2" charset="-122"/>
              </a:rPr>
              <a:t>算力芯片</a:t>
            </a:r>
            <a:r>
              <a:rPr lang="en-US" altLang="zh-CN" b="1" dirty="0">
                <a:latin typeface="宋体" panose="02010600030101010101" pitchFamily="2" charset="-122"/>
                <a:ea typeface="宋体" panose="02010600030101010101" pitchFamily="2" charset="-122"/>
              </a:rPr>
              <a:t>ASIC</a:t>
            </a:r>
            <a:r>
              <a:rPr lang="zh-CN" altLang="en-US" b="1" dirty="0">
                <a:latin typeface="宋体" panose="02010600030101010101" pitchFamily="2" charset="-122"/>
                <a:ea typeface="宋体" panose="02010600030101010101" pitchFamily="2" charset="-122"/>
              </a:rPr>
              <a:t>化带来的投资机会：芯片设计服务厂商崛起</a:t>
            </a:r>
            <a:endParaRPr lang="zh-CN" altLang="en-US" b="1" dirty="0">
              <a:latin typeface="宋体" panose="02010600030101010101" pitchFamily="2" charset="-122"/>
              <a:ea typeface="宋体" panose="02010600030101010101" pitchFamily="2" charset="-122"/>
            </a:endParaRPr>
          </a:p>
        </p:txBody>
      </p:sp>
      <p:sp>
        <p:nvSpPr>
          <p:cNvPr id="6" name="文本框 5"/>
          <p:cNvSpPr txBox="1"/>
          <p:nvPr/>
        </p:nvSpPr>
        <p:spPr>
          <a:xfrm>
            <a:off x="3386719" y="613901"/>
            <a:ext cx="4903907" cy="338554"/>
          </a:xfrm>
          <a:prstGeom prst="rect">
            <a:avLst/>
          </a:prstGeom>
          <a:noFill/>
        </p:spPr>
        <p:txBody>
          <a:bodyPr wrap="none" rtlCol="0">
            <a:spAutoFit/>
          </a:bodyPr>
          <a:lstStyle/>
          <a:p>
            <a:pPr algn="ctr"/>
            <a:r>
              <a:rPr lang="zh-CN" altLang="en-US" sz="1600" b="1" dirty="0"/>
              <a:t>国外互联网巨头发布的定制化算力芯片及其合作厂商</a:t>
            </a:r>
            <a:endParaRPr lang="zh-CN" altLang="en-US" sz="1600" b="1" dirty="0"/>
          </a:p>
        </p:txBody>
      </p:sp>
      <p:pic>
        <p:nvPicPr>
          <p:cNvPr id="3" name="图片 2"/>
          <p:cNvPicPr>
            <a:picLocks noChangeAspect="1"/>
          </p:cNvPicPr>
          <p:nvPr/>
        </p:nvPicPr>
        <p:blipFill>
          <a:blip r:embed="rId1"/>
          <a:srcRect t="7247" b="5197"/>
          <a:stretch>
            <a:fillRect/>
          </a:stretch>
        </p:blipFill>
        <p:spPr>
          <a:xfrm>
            <a:off x="1163558" y="1014463"/>
            <a:ext cx="9864884" cy="5426697"/>
          </a:xfrm>
          <a:prstGeom prst="rect">
            <a:avLst/>
          </a:prstGeom>
        </p:spPr>
      </p:pic>
      <p:sp>
        <p:nvSpPr>
          <p:cNvPr id="4" name="文本框 3"/>
          <p:cNvSpPr txBox="1"/>
          <p:nvPr/>
        </p:nvSpPr>
        <p:spPr>
          <a:xfrm>
            <a:off x="5586437" y="6488539"/>
            <a:ext cx="6369916" cy="307777"/>
          </a:xfrm>
          <a:prstGeom prst="rect">
            <a:avLst/>
          </a:prstGeom>
          <a:noFill/>
        </p:spPr>
        <p:txBody>
          <a:bodyPr wrap="square">
            <a:spAutoFit/>
          </a:bodyPr>
          <a:lstStyle/>
          <a:p>
            <a:pPr algn="r"/>
            <a:r>
              <a:rPr lang="zh-CN" altLang="en-US" sz="1400" dirty="0">
                <a:latin typeface="宋体" panose="02010600030101010101" pitchFamily="2" charset="-122"/>
                <a:ea typeface="宋体" panose="02010600030101010101" pitchFamily="2" charset="-122"/>
              </a:rPr>
              <a:t>资料来源：</a:t>
            </a:r>
            <a:r>
              <a:rPr lang="zh-CN" altLang="en-US" sz="1400" dirty="0">
                <a:latin typeface="宋体" panose="02010600030101010101" pitchFamily="2" charset="-122"/>
                <a:ea typeface="宋体" panose="02010600030101010101" pitchFamily="2" charset="-122"/>
                <a:cs typeface="Times New Roman" panose="02020603050405020304" pitchFamily="18" charset="0"/>
              </a:rPr>
              <a:t>半导体行业观察，</a:t>
            </a:r>
            <a:r>
              <a:rPr lang="en-US" altLang="zh-CN" sz="1400" dirty="0" err="1">
                <a:latin typeface="宋体" panose="02010600030101010101" pitchFamily="2" charset="-122"/>
                <a:ea typeface="宋体" panose="02010600030101010101" pitchFamily="2" charset="-122"/>
                <a:cs typeface="Times New Roman" panose="02020603050405020304" pitchFamily="18" charset="0"/>
              </a:rPr>
              <a:t>SemiAnalysis</a:t>
            </a:r>
            <a:r>
              <a:rPr lang="zh-CN" altLang="en-US" sz="1400" dirty="0">
                <a:latin typeface="宋体" panose="02010600030101010101" pitchFamily="2" charset="-122"/>
                <a:ea typeface="宋体" panose="02010600030101010101" pitchFamily="2" charset="-122"/>
                <a:cs typeface="Times New Roman" panose="02020603050405020304" pitchFamily="18" charset="0"/>
              </a:rPr>
              <a:t>，东吴证券</a:t>
            </a:r>
            <a:endParaRPr lang="zh-CN" altLang="en-US" sz="1400" dirty="0">
              <a:latin typeface="宋体" panose="02010600030101010101" pitchFamily="2" charset="-122"/>
              <a:ea typeface="宋体" panose="02010600030101010101" pitchFamily="2" charset="-122"/>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flipH="1">
            <a:off x="224084" y="159798"/>
            <a:ext cx="7285366" cy="369332"/>
          </a:xfrm>
          <a:prstGeom prst="rect">
            <a:avLst/>
          </a:prstGeom>
          <a:noFill/>
        </p:spPr>
        <p:txBody>
          <a:bodyPr wrap="square" rtlCol="0">
            <a:spAutoFit/>
          </a:bodyPr>
          <a:lstStyle/>
          <a:p>
            <a:r>
              <a:rPr lang="zh-CN" altLang="en-US" b="1" dirty="0">
                <a:latin typeface="宋体" panose="02010600030101010101" pitchFamily="2" charset="-122"/>
                <a:ea typeface="宋体" panose="02010600030101010101" pitchFamily="2" charset="-122"/>
              </a:rPr>
              <a:t>算力芯片</a:t>
            </a:r>
            <a:r>
              <a:rPr lang="en-US" altLang="zh-CN" b="1" dirty="0">
                <a:latin typeface="宋体" panose="02010600030101010101" pitchFamily="2" charset="-122"/>
                <a:ea typeface="宋体" panose="02010600030101010101" pitchFamily="2" charset="-122"/>
              </a:rPr>
              <a:t>ASIC</a:t>
            </a:r>
            <a:r>
              <a:rPr lang="zh-CN" altLang="en-US" b="1" dirty="0">
                <a:latin typeface="宋体" panose="02010600030101010101" pitchFamily="2" charset="-122"/>
                <a:ea typeface="宋体" panose="02010600030101010101" pitchFamily="2" charset="-122"/>
              </a:rPr>
              <a:t>化带来的投资机会：芯片设计服务厂商崛起</a:t>
            </a:r>
            <a:endParaRPr lang="zh-CN" altLang="en-US" b="1" dirty="0">
              <a:latin typeface="宋体" panose="02010600030101010101" pitchFamily="2" charset="-122"/>
              <a:ea typeface="宋体" panose="02010600030101010101" pitchFamily="2" charset="-122"/>
            </a:endParaRPr>
          </a:p>
        </p:txBody>
      </p:sp>
      <p:sp>
        <p:nvSpPr>
          <p:cNvPr id="14" name="文本框 13"/>
          <p:cNvSpPr txBox="1"/>
          <p:nvPr/>
        </p:nvSpPr>
        <p:spPr>
          <a:xfrm>
            <a:off x="224085" y="593846"/>
            <a:ext cx="11648496" cy="1200329"/>
          </a:xfrm>
          <a:prstGeom prst="rect">
            <a:avLst/>
          </a:prstGeom>
          <a:noFill/>
        </p:spPr>
        <p:txBody>
          <a:bodyPr wrap="square">
            <a:spAutoFit/>
          </a:bodyPr>
          <a:lstStyle/>
          <a:p>
            <a:pPr marL="285750" indent="-285750">
              <a:buFont typeface="Wingdings" panose="05000000000000000000" pitchFamily="2" charset="2"/>
              <a:buChar char="u"/>
            </a:pPr>
            <a:r>
              <a:rPr lang="zh-CN" altLang="en-US" dirty="0">
                <a:ea typeface="+mn-lt"/>
                <a:cs typeface="+mn-lt"/>
              </a:rPr>
              <a:t>当前芯片设计服务厂商主要有两种，一种是平台型芯片公司，其积累了丰富的</a:t>
            </a:r>
            <a:r>
              <a:rPr lang="en-US" altLang="zh-CN" dirty="0">
                <a:ea typeface="+mn-lt"/>
                <a:cs typeface="+mn-lt"/>
              </a:rPr>
              <a:t>IP</a:t>
            </a:r>
            <a:r>
              <a:rPr lang="zh-CN" altLang="en-US" dirty="0">
                <a:ea typeface="+mn-lt"/>
                <a:cs typeface="+mn-lt"/>
              </a:rPr>
              <a:t>资源和大量自有芯片产品设计和流片经验，可高效复用于</a:t>
            </a:r>
            <a:r>
              <a:rPr lang="en-US" altLang="zh-CN" dirty="0">
                <a:ea typeface="+mn-lt"/>
                <a:cs typeface="+mn-lt"/>
              </a:rPr>
              <a:t>ASIC</a:t>
            </a:r>
            <a:r>
              <a:rPr lang="zh-CN" altLang="en-US" dirty="0">
                <a:ea typeface="+mn-lt"/>
                <a:cs typeface="+mn-lt"/>
              </a:rPr>
              <a:t>定制服务中，不仅能为客户显著缩短研发周期、提升开发效率，更能确保项目的成功率（如博通、</a:t>
            </a:r>
            <a:r>
              <a:rPr lang="en-US" altLang="zh-CN" dirty="0">
                <a:ea typeface="+mn-lt"/>
                <a:cs typeface="+mn-lt"/>
              </a:rPr>
              <a:t>Marvell</a:t>
            </a:r>
            <a:r>
              <a:rPr lang="zh-CN" altLang="en-US" dirty="0">
                <a:ea typeface="+mn-lt"/>
                <a:cs typeface="+mn-lt"/>
              </a:rPr>
              <a:t>、翱捷科技、联芸科技等）；另一种是</a:t>
            </a:r>
            <a:r>
              <a:rPr lang="zh-CN" altLang="en-US" dirty="0">
                <a:solidFill>
                  <a:srgbClr val="C00000"/>
                </a:solidFill>
                <a:ea typeface="+mn-lt"/>
                <a:cs typeface="+mn-lt"/>
              </a:rPr>
              <a:t>独立第三方</a:t>
            </a:r>
            <a:r>
              <a:rPr lang="zh-CN" altLang="en-US" dirty="0">
                <a:ea typeface="+mn-lt"/>
                <a:cs typeface="+mn-lt"/>
              </a:rPr>
              <a:t>的芯片设计服务公司（如创意电子、世芯电子、芯原股份、灿芯股份等），主要位于中国台湾和中国大陆，更符合国情因而预期发展空间更大。</a:t>
            </a:r>
            <a:endParaRPr lang="zh-CN" altLang="en-US" dirty="0">
              <a:ea typeface="+mn-lt"/>
              <a:cs typeface="+mn-lt"/>
            </a:endParaRPr>
          </a:p>
        </p:txBody>
      </p:sp>
      <p:pic>
        <p:nvPicPr>
          <p:cNvPr id="4" name="图片 3"/>
          <p:cNvPicPr>
            <a:picLocks noChangeAspect="1"/>
          </p:cNvPicPr>
          <p:nvPr/>
        </p:nvPicPr>
        <p:blipFill>
          <a:blip r:embed="rId1"/>
          <a:stretch>
            <a:fillRect/>
          </a:stretch>
        </p:blipFill>
        <p:spPr>
          <a:xfrm>
            <a:off x="767527" y="2322408"/>
            <a:ext cx="4547233" cy="4375794"/>
          </a:xfrm>
          <a:prstGeom prst="rect">
            <a:avLst/>
          </a:prstGeom>
        </p:spPr>
      </p:pic>
      <p:sp>
        <p:nvSpPr>
          <p:cNvPr id="5" name="文本框 4"/>
          <p:cNvSpPr txBox="1"/>
          <p:nvPr/>
        </p:nvSpPr>
        <p:spPr>
          <a:xfrm>
            <a:off x="803191" y="1920454"/>
            <a:ext cx="4475904" cy="338554"/>
          </a:xfrm>
          <a:prstGeom prst="rect">
            <a:avLst/>
          </a:prstGeom>
          <a:noFill/>
        </p:spPr>
        <p:txBody>
          <a:bodyPr wrap="none" rtlCol="0">
            <a:spAutoFit/>
          </a:bodyPr>
          <a:lstStyle/>
          <a:p>
            <a:pPr algn="ctr"/>
            <a:r>
              <a:rPr lang="zh-CN" altLang="en-US" sz="1600" b="1" dirty="0"/>
              <a:t>全球主要芯片设计服务商相关收入</a:t>
            </a:r>
            <a:r>
              <a:rPr lang="en-US" altLang="zh-CN" sz="1600" b="1" dirty="0"/>
              <a:t>(</a:t>
            </a:r>
            <a:r>
              <a:rPr lang="zh-CN" altLang="en-US" sz="1600" b="1" dirty="0"/>
              <a:t>单位</a:t>
            </a:r>
            <a:r>
              <a:rPr lang="en-US" altLang="zh-CN" sz="1600" b="1" dirty="0"/>
              <a:t>:</a:t>
            </a:r>
            <a:r>
              <a:rPr lang="zh-CN" altLang="en-US" sz="1600" b="1" dirty="0"/>
              <a:t>亿美元</a:t>
            </a:r>
            <a:r>
              <a:rPr lang="en-US" altLang="zh-CN" sz="1600" b="1" dirty="0"/>
              <a:t>)</a:t>
            </a:r>
            <a:endParaRPr lang="zh-CN" altLang="en-US" sz="1600" b="1" dirty="0"/>
          </a:p>
        </p:txBody>
      </p:sp>
      <p:pic>
        <p:nvPicPr>
          <p:cNvPr id="8" name="图片 7"/>
          <p:cNvPicPr>
            <a:picLocks noChangeAspect="1"/>
          </p:cNvPicPr>
          <p:nvPr/>
        </p:nvPicPr>
        <p:blipFill>
          <a:blip r:embed="rId2"/>
          <a:srcRect r="3507"/>
          <a:stretch>
            <a:fillRect/>
          </a:stretch>
        </p:blipFill>
        <p:spPr>
          <a:xfrm>
            <a:off x="5866137" y="2457954"/>
            <a:ext cx="5952286" cy="3766864"/>
          </a:xfrm>
          <a:prstGeom prst="rect">
            <a:avLst/>
          </a:prstGeom>
        </p:spPr>
      </p:pic>
      <p:sp>
        <p:nvSpPr>
          <p:cNvPr id="9" name="文本框 8"/>
          <p:cNvSpPr txBox="1"/>
          <p:nvPr/>
        </p:nvSpPr>
        <p:spPr>
          <a:xfrm>
            <a:off x="6595511" y="1920454"/>
            <a:ext cx="4493538" cy="338554"/>
          </a:xfrm>
          <a:prstGeom prst="rect">
            <a:avLst/>
          </a:prstGeom>
          <a:noFill/>
        </p:spPr>
        <p:txBody>
          <a:bodyPr wrap="none" rtlCol="0">
            <a:spAutoFit/>
          </a:bodyPr>
          <a:lstStyle/>
          <a:p>
            <a:pPr algn="ctr"/>
            <a:r>
              <a:rPr lang="zh-CN" altLang="en-US" sz="1600" b="1" dirty="0">
                <a:solidFill>
                  <a:srgbClr val="C00000"/>
                </a:solidFill>
              </a:rPr>
              <a:t>翱捷科技</a:t>
            </a:r>
            <a:r>
              <a:rPr lang="zh-CN" altLang="en-US" sz="1600" b="1" dirty="0"/>
              <a:t>芯片设计服务主要布局方向与竞争优势</a:t>
            </a:r>
            <a:endParaRPr lang="zh-CN" altLang="en-US" sz="1600" b="1" dirty="0"/>
          </a:p>
        </p:txBody>
      </p:sp>
      <p:sp>
        <p:nvSpPr>
          <p:cNvPr id="10" name="文本框 9"/>
          <p:cNvSpPr txBox="1"/>
          <p:nvPr/>
        </p:nvSpPr>
        <p:spPr>
          <a:xfrm>
            <a:off x="5401662" y="6269875"/>
            <a:ext cx="6369916" cy="307777"/>
          </a:xfrm>
          <a:prstGeom prst="rect">
            <a:avLst/>
          </a:prstGeom>
          <a:noFill/>
        </p:spPr>
        <p:txBody>
          <a:bodyPr wrap="square">
            <a:spAutoFit/>
          </a:bodyPr>
          <a:lstStyle/>
          <a:p>
            <a:pPr algn="r"/>
            <a:r>
              <a:rPr lang="zh-CN" altLang="en-US" sz="1400" dirty="0">
                <a:latin typeface="宋体" panose="02010600030101010101" pitchFamily="2" charset="-122"/>
                <a:ea typeface="宋体" panose="02010600030101010101" pitchFamily="2" charset="-122"/>
              </a:rPr>
              <a:t>资料来源：</a:t>
            </a:r>
            <a:r>
              <a:rPr lang="en-US" altLang="zh-CN" sz="1400" dirty="0">
                <a:latin typeface="宋体" panose="02010600030101010101" pitchFamily="2" charset="-122"/>
                <a:ea typeface="宋体" panose="02010600030101010101" pitchFamily="2" charset="-122"/>
                <a:cs typeface="Times New Roman" panose="02020603050405020304" pitchFamily="18" charset="0"/>
              </a:rPr>
              <a:t> </a:t>
            </a:r>
            <a:r>
              <a:rPr lang="zh-CN" altLang="en-US" sz="1400" dirty="0">
                <a:latin typeface="宋体" panose="02010600030101010101" pitchFamily="2" charset="-122"/>
                <a:ea typeface="宋体" panose="02010600030101010101" pitchFamily="2" charset="-122"/>
                <a:cs typeface="Times New Roman" panose="02020603050405020304" pitchFamily="18" charset="0"/>
              </a:rPr>
              <a:t>亿欧智库，东吴证券</a:t>
            </a:r>
            <a:endParaRPr lang="zh-CN" altLang="en-US" sz="1400" dirty="0">
              <a:latin typeface="宋体" panose="02010600030101010101" pitchFamily="2" charset="-122"/>
              <a:ea typeface="宋体" panose="02010600030101010101" pitchFamily="2" charset="-122"/>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flipH="1">
            <a:off x="224084" y="159798"/>
            <a:ext cx="7285366" cy="369332"/>
          </a:xfrm>
          <a:prstGeom prst="rect">
            <a:avLst/>
          </a:prstGeom>
          <a:noFill/>
        </p:spPr>
        <p:txBody>
          <a:bodyPr wrap="square" rtlCol="0">
            <a:spAutoFit/>
          </a:bodyPr>
          <a:lstStyle/>
          <a:p>
            <a:r>
              <a:rPr lang="zh-CN" altLang="en-US" b="1" dirty="0">
                <a:latin typeface="宋体" panose="02010600030101010101" pitchFamily="2" charset="-122"/>
                <a:ea typeface="宋体" panose="02010600030101010101" pitchFamily="2" charset="-122"/>
              </a:rPr>
              <a:t>算力芯片</a:t>
            </a:r>
            <a:r>
              <a:rPr lang="en-US" altLang="zh-CN" b="1" dirty="0">
                <a:latin typeface="宋体" panose="02010600030101010101" pitchFamily="2" charset="-122"/>
                <a:ea typeface="宋体" panose="02010600030101010101" pitchFamily="2" charset="-122"/>
              </a:rPr>
              <a:t>ASIC</a:t>
            </a:r>
            <a:r>
              <a:rPr lang="zh-CN" altLang="en-US" b="1" dirty="0">
                <a:latin typeface="宋体" panose="02010600030101010101" pitchFamily="2" charset="-122"/>
                <a:ea typeface="宋体" panose="02010600030101010101" pitchFamily="2" charset="-122"/>
              </a:rPr>
              <a:t>化带来的投资机会：芯片设计服务厂商崛起</a:t>
            </a:r>
            <a:endParaRPr lang="zh-CN" altLang="en-US" b="1" dirty="0">
              <a:latin typeface="宋体" panose="02010600030101010101" pitchFamily="2" charset="-122"/>
              <a:ea typeface="宋体" panose="02010600030101010101" pitchFamily="2" charset="-122"/>
            </a:endParaRPr>
          </a:p>
        </p:txBody>
      </p:sp>
      <p:sp>
        <p:nvSpPr>
          <p:cNvPr id="14" name="文本框 13"/>
          <p:cNvSpPr txBox="1"/>
          <p:nvPr/>
        </p:nvSpPr>
        <p:spPr>
          <a:xfrm>
            <a:off x="224085" y="593846"/>
            <a:ext cx="11648496" cy="923330"/>
          </a:xfrm>
          <a:prstGeom prst="rect">
            <a:avLst/>
          </a:prstGeom>
          <a:noFill/>
        </p:spPr>
        <p:txBody>
          <a:bodyPr wrap="square">
            <a:spAutoFit/>
          </a:bodyPr>
          <a:lstStyle/>
          <a:p>
            <a:pPr marL="285750" indent="-285750">
              <a:buFont typeface="Wingdings" panose="05000000000000000000" pitchFamily="2" charset="2"/>
              <a:buChar char="u"/>
            </a:pPr>
            <a:r>
              <a:rPr lang="zh-CN" altLang="en-US" dirty="0">
                <a:ea typeface="+mn-lt"/>
                <a:cs typeface="+mn-lt"/>
              </a:rPr>
              <a:t>根据上海市集成电路行业协会，</a:t>
            </a:r>
            <a:r>
              <a:rPr lang="en-US" altLang="zh-CN" dirty="0">
                <a:ea typeface="+mn-lt"/>
                <a:cs typeface="+mn-lt"/>
              </a:rPr>
              <a:t>2021</a:t>
            </a:r>
            <a:r>
              <a:rPr lang="zh-CN" altLang="en-US" dirty="0">
                <a:ea typeface="+mn-lt"/>
                <a:cs typeface="+mn-lt"/>
              </a:rPr>
              <a:t>年全球集成电路设计服务市场规模</a:t>
            </a:r>
            <a:r>
              <a:rPr lang="zh-CN" altLang="en-US" dirty="0">
                <a:solidFill>
                  <a:srgbClr val="C00000"/>
                </a:solidFill>
                <a:ea typeface="+mn-lt"/>
                <a:cs typeface="+mn-lt"/>
              </a:rPr>
              <a:t>（独立第三方）</a:t>
            </a:r>
            <a:r>
              <a:rPr lang="zh-CN" altLang="en-US" dirty="0">
                <a:ea typeface="+mn-lt"/>
                <a:cs typeface="+mn-lt"/>
              </a:rPr>
              <a:t>约为</a:t>
            </a:r>
            <a:r>
              <a:rPr lang="en-US" altLang="zh-CN" dirty="0">
                <a:ea typeface="+mn-lt"/>
                <a:cs typeface="+mn-lt"/>
              </a:rPr>
              <a:t>193</a:t>
            </a:r>
            <a:r>
              <a:rPr lang="zh-CN" altLang="en-US" dirty="0">
                <a:ea typeface="+mn-lt"/>
                <a:cs typeface="+mn-lt"/>
              </a:rPr>
              <a:t>亿元，自</a:t>
            </a:r>
            <a:r>
              <a:rPr lang="en-US" altLang="zh-CN" dirty="0">
                <a:ea typeface="+mn-lt"/>
                <a:cs typeface="+mn-lt"/>
              </a:rPr>
              <a:t>2016</a:t>
            </a:r>
            <a:r>
              <a:rPr lang="zh-CN" altLang="en-US" dirty="0">
                <a:ea typeface="+mn-lt"/>
                <a:cs typeface="+mn-lt"/>
              </a:rPr>
              <a:t>年以来的年均复合增长率约为</a:t>
            </a:r>
            <a:r>
              <a:rPr lang="en-US" altLang="zh-CN" dirty="0">
                <a:ea typeface="+mn-lt"/>
                <a:cs typeface="+mn-lt"/>
              </a:rPr>
              <a:t>10.6%</a:t>
            </a:r>
            <a:r>
              <a:rPr lang="zh-CN" altLang="en-US" dirty="0">
                <a:ea typeface="+mn-lt"/>
                <a:cs typeface="+mn-lt"/>
              </a:rPr>
              <a:t>。随着需求不断增大，预计到</a:t>
            </a:r>
            <a:r>
              <a:rPr lang="en-US" altLang="zh-CN" dirty="0">
                <a:ea typeface="+mn-lt"/>
                <a:cs typeface="+mn-lt"/>
              </a:rPr>
              <a:t>2026</a:t>
            </a:r>
            <a:r>
              <a:rPr lang="zh-CN" altLang="en-US" dirty="0">
                <a:ea typeface="+mn-lt"/>
                <a:cs typeface="+mn-lt"/>
              </a:rPr>
              <a:t>年全球集成电路设计服务市场规模将达到</a:t>
            </a:r>
            <a:r>
              <a:rPr lang="en-US" altLang="zh-CN" dirty="0">
                <a:ea typeface="+mn-lt"/>
                <a:cs typeface="+mn-lt"/>
              </a:rPr>
              <a:t>283</a:t>
            </a:r>
            <a:r>
              <a:rPr lang="zh-CN" altLang="en-US" dirty="0">
                <a:ea typeface="+mn-lt"/>
                <a:cs typeface="+mn-lt"/>
              </a:rPr>
              <a:t>亿元。</a:t>
            </a:r>
            <a:endParaRPr lang="zh-CN" altLang="en-US" dirty="0">
              <a:ea typeface="+mn-lt"/>
              <a:cs typeface="+mn-lt"/>
            </a:endParaRPr>
          </a:p>
        </p:txBody>
      </p:sp>
      <p:pic>
        <p:nvPicPr>
          <p:cNvPr id="4" name="图片 3"/>
          <p:cNvPicPr>
            <a:picLocks noChangeAspect="1"/>
          </p:cNvPicPr>
          <p:nvPr/>
        </p:nvPicPr>
        <p:blipFill>
          <a:blip r:embed="rId1"/>
          <a:stretch>
            <a:fillRect/>
          </a:stretch>
        </p:blipFill>
        <p:spPr>
          <a:xfrm>
            <a:off x="1977857" y="1443029"/>
            <a:ext cx="8140952" cy="4884572"/>
          </a:xfrm>
          <a:prstGeom prst="rect">
            <a:avLst/>
          </a:prstGeom>
        </p:spPr>
      </p:pic>
      <p:sp>
        <p:nvSpPr>
          <p:cNvPr id="5" name="文本框 4"/>
          <p:cNvSpPr txBox="1"/>
          <p:nvPr/>
        </p:nvSpPr>
        <p:spPr>
          <a:xfrm>
            <a:off x="5591176" y="6327601"/>
            <a:ext cx="6369916" cy="307777"/>
          </a:xfrm>
          <a:prstGeom prst="rect">
            <a:avLst/>
          </a:prstGeom>
          <a:noFill/>
        </p:spPr>
        <p:txBody>
          <a:bodyPr wrap="square">
            <a:spAutoFit/>
          </a:bodyPr>
          <a:lstStyle/>
          <a:p>
            <a:pPr algn="r"/>
            <a:r>
              <a:rPr lang="zh-CN" altLang="en-US" sz="1400" dirty="0">
                <a:latin typeface="宋体" panose="02010600030101010101" pitchFamily="2" charset="-122"/>
                <a:ea typeface="宋体" panose="02010600030101010101" pitchFamily="2" charset="-122"/>
              </a:rPr>
              <a:t>资料来源：</a:t>
            </a:r>
            <a:r>
              <a:rPr lang="zh-CN" altLang="en-US" sz="1400" dirty="0">
                <a:latin typeface="宋体" panose="02010600030101010101" pitchFamily="2" charset="-122"/>
                <a:ea typeface="宋体" panose="02010600030101010101" pitchFamily="2" charset="-122"/>
                <a:cs typeface="Times New Roman" panose="02020603050405020304" pitchFamily="18" charset="0"/>
              </a:rPr>
              <a:t>上海市集成电路行业协会，灿芯股份招股说明书</a:t>
            </a:r>
            <a:endParaRPr lang="zh-CN" altLang="en-US" sz="1400" dirty="0">
              <a:latin typeface="宋体" panose="02010600030101010101" pitchFamily="2" charset="-122"/>
              <a:ea typeface="宋体" panose="02010600030101010101" pitchFamily="2" charset="-122"/>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flipH="1">
            <a:off x="224084" y="159798"/>
            <a:ext cx="7285366" cy="369332"/>
          </a:xfrm>
          <a:prstGeom prst="rect">
            <a:avLst/>
          </a:prstGeom>
          <a:noFill/>
        </p:spPr>
        <p:txBody>
          <a:bodyPr wrap="square" rtlCol="0">
            <a:spAutoFit/>
          </a:bodyPr>
          <a:lstStyle/>
          <a:p>
            <a:r>
              <a:rPr lang="zh-CN" altLang="en-US" b="1" dirty="0">
                <a:latin typeface="宋体" panose="02010600030101010101" pitchFamily="2" charset="-122"/>
                <a:ea typeface="宋体" panose="02010600030101010101" pitchFamily="2" charset="-122"/>
              </a:rPr>
              <a:t>算力芯片</a:t>
            </a:r>
            <a:r>
              <a:rPr lang="en-US" altLang="zh-CN" b="1" dirty="0">
                <a:latin typeface="宋体" panose="02010600030101010101" pitchFamily="2" charset="-122"/>
                <a:ea typeface="宋体" panose="02010600030101010101" pitchFamily="2" charset="-122"/>
              </a:rPr>
              <a:t>ASIC</a:t>
            </a:r>
            <a:r>
              <a:rPr lang="zh-CN" altLang="en-US" b="1" dirty="0">
                <a:latin typeface="宋体" panose="02010600030101010101" pitchFamily="2" charset="-122"/>
                <a:ea typeface="宋体" panose="02010600030101010101" pitchFamily="2" charset="-122"/>
              </a:rPr>
              <a:t>化带来的投资机会：芯片设计服务厂商崛起</a:t>
            </a:r>
            <a:endParaRPr lang="zh-CN" altLang="en-US" b="1" dirty="0">
              <a:latin typeface="宋体" panose="02010600030101010101" pitchFamily="2" charset="-122"/>
              <a:ea typeface="宋体" panose="02010600030101010101" pitchFamily="2" charset="-122"/>
            </a:endParaRPr>
          </a:p>
        </p:txBody>
      </p:sp>
      <p:sp>
        <p:nvSpPr>
          <p:cNvPr id="14" name="文本框 13"/>
          <p:cNvSpPr txBox="1"/>
          <p:nvPr/>
        </p:nvSpPr>
        <p:spPr>
          <a:xfrm>
            <a:off x="224085" y="593846"/>
            <a:ext cx="11648496" cy="923330"/>
          </a:xfrm>
          <a:prstGeom prst="rect">
            <a:avLst/>
          </a:prstGeom>
          <a:noFill/>
        </p:spPr>
        <p:txBody>
          <a:bodyPr wrap="square">
            <a:spAutoFit/>
          </a:bodyPr>
          <a:lstStyle/>
          <a:p>
            <a:pPr marL="285750" indent="-285750">
              <a:buFont typeface="Wingdings" panose="05000000000000000000" pitchFamily="2" charset="2"/>
              <a:buChar char="u"/>
            </a:pPr>
            <a:r>
              <a:rPr lang="zh-CN" altLang="en-US" dirty="0">
                <a:ea typeface="+mn-lt"/>
                <a:cs typeface="+mn-lt"/>
              </a:rPr>
              <a:t>中国大陆集成电路设计服务市场</a:t>
            </a:r>
            <a:r>
              <a:rPr lang="en-US" altLang="zh-CN" dirty="0">
                <a:ea typeface="+mn-lt"/>
                <a:cs typeface="+mn-lt"/>
              </a:rPr>
              <a:t>2021</a:t>
            </a:r>
            <a:r>
              <a:rPr lang="zh-CN" altLang="en-US" dirty="0">
                <a:ea typeface="+mn-lt"/>
                <a:cs typeface="+mn-lt"/>
              </a:rPr>
              <a:t>年规模约为</a:t>
            </a:r>
            <a:r>
              <a:rPr lang="en-US" altLang="zh-CN" dirty="0">
                <a:ea typeface="+mn-lt"/>
                <a:cs typeface="+mn-lt"/>
              </a:rPr>
              <a:t>61</a:t>
            </a:r>
            <a:r>
              <a:rPr lang="zh-CN" altLang="en-US" dirty="0">
                <a:ea typeface="+mn-lt"/>
                <a:cs typeface="+mn-lt"/>
              </a:rPr>
              <a:t>亿元，自</a:t>
            </a:r>
            <a:r>
              <a:rPr lang="en-US" altLang="zh-CN" dirty="0">
                <a:ea typeface="+mn-lt"/>
                <a:cs typeface="+mn-lt"/>
              </a:rPr>
              <a:t>2016</a:t>
            </a:r>
            <a:r>
              <a:rPr lang="zh-CN" altLang="en-US" dirty="0">
                <a:ea typeface="+mn-lt"/>
                <a:cs typeface="+mn-lt"/>
              </a:rPr>
              <a:t>年以来的年均复合增长率约为</a:t>
            </a:r>
            <a:r>
              <a:rPr lang="en-US" altLang="zh-CN" dirty="0">
                <a:ea typeface="+mn-lt"/>
                <a:cs typeface="+mn-lt"/>
              </a:rPr>
              <a:t>26.8%</a:t>
            </a:r>
            <a:r>
              <a:rPr lang="zh-CN" altLang="en-US" dirty="0">
                <a:ea typeface="+mn-lt"/>
                <a:cs typeface="+mn-lt"/>
              </a:rPr>
              <a:t>，增速显著高于全球市场。随着本土芯片设计公司的快速发展与系统厂商芯片定制需求的增长，预计到</a:t>
            </a:r>
            <a:r>
              <a:rPr lang="en-US" altLang="zh-CN" dirty="0">
                <a:ea typeface="+mn-lt"/>
                <a:cs typeface="+mn-lt"/>
              </a:rPr>
              <a:t>2026</a:t>
            </a:r>
            <a:r>
              <a:rPr lang="zh-CN" altLang="en-US" dirty="0">
                <a:ea typeface="+mn-lt"/>
                <a:cs typeface="+mn-lt"/>
              </a:rPr>
              <a:t>年中国大陆集成电路设计服务市场规模将达到</a:t>
            </a:r>
            <a:r>
              <a:rPr lang="en-US" altLang="zh-CN" dirty="0">
                <a:ea typeface="+mn-lt"/>
                <a:cs typeface="+mn-lt"/>
              </a:rPr>
              <a:t>130</a:t>
            </a:r>
            <a:r>
              <a:rPr lang="zh-CN" altLang="en-US" dirty="0">
                <a:ea typeface="+mn-lt"/>
                <a:cs typeface="+mn-lt"/>
              </a:rPr>
              <a:t>亿元。</a:t>
            </a:r>
            <a:endParaRPr lang="zh-CN" altLang="en-US" dirty="0">
              <a:ea typeface="+mn-lt"/>
              <a:cs typeface="+mn-lt"/>
            </a:endParaRPr>
          </a:p>
        </p:txBody>
      </p:sp>
      <p:pic>
        <p:nvPicPr>
          <p:cNvPr id="4" name="图片 3"/>
          <p:cNvPicPr>
            <a:picLocks noChangeAspect="1"/>
          </p:cNvPicPr>
          <p:nvPr/>
        </p:nvPicPr>
        <p:blipFill>
          <a:blip r:embed="rId1"/>
          <a:stretch>
            <a:fillRect/>
          </a:stretch>
        </p:blipFill>
        <p:spPr>
          <a:xfrm>
            <a:off x="2080085" y="1606141"/>
            <a:ext cx="8031830" cy="4819099"/>
          </a:xfrm>
          <a:prstGeom prst="rect">
            <a:avLst/>
          </a:prstGeom>
        </p:spPr>
      </p:pic>
      <p:sp>
        <p:nvSpPr>
          <p:cNvPr id="5" name="文本框 4"/>
          <p:cNvSpPr txBox="1"/>
          <p:nvPr/>
        </p:nvSpPr>
        <p:spPr>
          <a:xfrm>
            <a:off x="5591176" y="6431683"/>
            <a:ext cx="6369916" cy="307777"/>
          </a:xfrm>
          <a:prstGeom prst="rect">
            <a:avLst/>
          </a:prstGeom>
          <a:noFill/>
        </p:spPr>
        <p:txBody>
          <a:bodyPr wrap="square">
            <a:spAutoFit/>
          </a:bodyPr>
          <a:lstStyle/>
          <a:p>
            <a:pPr algn="r"/>
            <a:r>
              <a:rPr lang="zh-CN" altLang="en-US" sz="1400" dirty="0">
                <a:latin typeface="宋体" panose="02010600030101010101" pitchFamily="2" charset="-122"/>
                <a:ea typeface="宋体" panose="02010600030101010101" pitchFamily="2" charset="-122"/>
              </a:rPr>
              <a:t>资料来源：</a:t>
            </a:r>
            <a:r>
              <a:rPr lang="zh-CN" altLang="en-US" sz="1400" dirty="0">
                <a:latin typeface="宋体" panose="02010600030101010101" pitchFamily="2" charset="-122"/>
                <a:ea typeface="宋体" panose="02010600030101010101" pitchFamily="2" charset="-122"/>
                <a:cs typeface="Times New Roman" panose="02020603050405020304" pitchFamily="18" charset="0"/>
              </a:rPr>
              <a:t>上海市集成电路行业协会，灿芯股份招股说明书</a:t>
            </a:r>
            <a:endParaRPr lang="zh-CN" altLang="en-US" sz="1400" dirty="0">
              <a:latin typeface="宋体" panose="02010600030101010101" pitchFamily="2" charset="-122"/>
              <a:ea typeface="宋体" panose="02010600030101010101" pitchFamily="2" charset="-122"/>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flipH="1">
            <a:off x="224084" y="159798"/>
            <a:ext cx="7285366" cy="369332"/>
          </a:xfrm>
          <a:prstGeom prst="rect">
            <a:avLst/>
          </a:prstGeom>
          <a:noFill/>
        </p:spPr>
        <p:txBody>
          <a:bodyPr wrap="square" rtlCol="0">
            <a:spAutoFit/>
          </a:bodyPr>
          <a:lstStyle/>
          <a:p>
            <a:r>
              <a:rPr lang="zh-CN" altLang="en-US" b="1" dirty="0">
                <a:latin typeface="宋体" panose="02010600030101010101" pitchFamily="2" charset="-122"/>
                <a:ea typeface="宋体" panose="02010600030101010101" pitchFamily="2" charset="-122"/>
              </a:rPr>
              <a:t>算力芯片</a:t>
            </a:r>
            <a:r>
              <a:rPr lang="en-US" altLang="zh-CN" b="1" dirty="0">
                <a:latin typeface="宋体" panose="02010600030101010101" pitchFamily="2" charset="-122"/>
                <a:ea typeface="宋体" panose="02010600030101010101" pitchFamily="2" charset="-122"/>
              </a:rPr>
              <a:t>ASIC</a:t>
            </a:r>
            <a:r>
              <a:rPr lang="zh-CN" altLang="en-US" b="1" dirty="0">
                <a:latin typeface="宋体" panose="02010600030101010101" pitchFamily="2" charset="-122"/>
                <a:ea typeface="宋体" panose="02010600030101010101" pitchFamily="2" charset="-122"/>
              </a:rPr>
              <a:t>化带来的投资机会：芯片设计服务厂商崛起</a:t>
            </a:r>
            <a:endParaRPr lang="zh-CN" altLang="en-US" b="1" dirty="0">
              <a:latin typeface="宋体" panose="02010600030101010101" pitchFamily="2" charset="-122"/>
              <a:ea typeface="宋体" panose="02010600030101010101" pitchFamily="2" charset="-122"/>
            </a:endParaRPr>
          </a:p>
        </p:txBody>
      </p:sp>
      <p:sp>
        <p:nvSpPr>
          <p:cNvPr id="14" name="文本框 13"/>
          <p:cNvSpPr txBox="1"/>
          <p:nvPr/>
        </p:nvSpPr>
        <p:spPr>
          <a:xfrm>
            <a:off x="224085" y="593846"/>
            <a:ext cx="11648496" cy="923330"/>
          </a:xfrm>
          <a:prstGeom prst="rect">
            <a:avLst/>
          </a:prstGeom>
          <a:noFill/>
        </p:spPr>
        <p:txBody>
          <a:bodyPr wrap="square">
            <a:spAutoFit/>
          </a:bodyPr>
          <a:lstStyle/>
          <a:p>
            <a:pPr marL="285750" indent="-285750">
              <a:buFont typeface="Wingdings" panose="05000000000000000000" pitchFamily="2" charset="2"/>
              <a:buChar char="u"/>
            </a:pPr>
            <a:r>
              <a:rPr lang="zh-CN" altLang="en-US" dirty="0">
                <a:ea typeface="+mn-lt"/>
                <a:cs typeface="+mn-lt"/>
              </a:rPr>
              <a:t>全球独立第三方芯片设计服务的市场集中度较高，前五大厂商占据了全球超</a:t>
            </a:r>
            <a:r>
              <a:rPr lang="en-US" altLang="zh-CN" dirty="0">
                <a:ea typeface="+mn-lt"/>
                <a:cs typeface="+mn-lt"/>
              </a:rPr>
              <a:t>50%</a:t>
            </a:r>
            <a:r>
              <a:rPr lang="zh-CN" altLang="en-US" dirty="0">
                <a:ea typeface="+mn-lt"/>
                <a:cs typeface="+mn-lt"/>
              </a:rPr>
              <a:t>的市场份额。同时，由于终端应用市场的定制需求较为多元，存在较大的长尾市场，因此市场中存在着较多规模较小的设计服务企业。</a:t>
            </a:r>
            <a:endParaRPr lang="en-US" altLang="zh-CN" dirty="0">
              <a:ea typeface="+mn-lt"/>
              <a:cs typeface="+mn-lt"/>
            </a:endParaRPr>
          </a:p>
          <a:p>
            <a:pPr marL="285750" indent="-285750">
              <a:buFont typeface="Wingdings" panose="05000000000000000000" pitchFamily="2" charset="2"/>
              <a:buChar char="u"/>
            </a:pPr>
            <a:r>
              <a:rPr lang="zh-CN" altLang="en-US" dirty="0">
                <a:ea typeface="+mn-lt"/>
                <a:cs typeface="+mn-lt"/>
              </a:rPr>
              <a:t>随着制程工艺的不断发展，芯片设计难度及设计风险不断提升，头部厂商市场份额有望进一步扩大。</a:t>
            </a:r>
            <a:endParaRPr lang="zh-CN" altLang="en-US" dirty="0">
              <a:ea typeface="+mn-lt"/>
              <a:cs typeface="+mn-lt"/>
            </a:endParaRPr>
          </a:p>
        </p:txBody>
      </p:sp>
      <p:sp>
        <p:nvSpPr>
          <p:cNvPr id="3" name="文本框 2"/>
          <p:cNvSpPr txBox="1"/>
          <p:nvPr/>
        </p:nvSpPr>
        <p:spPr>
          <a:xfrm>
            <a:off x="4211934" y="1697776"/>
            <a:ext cx="3672800" cy="338554"/>
          </a:xfrm>
          <a:prstGeom prst="rect">
            <a:avLst/>
          </a:prstGeom>
          <a:noFill/>
        </p:spPr>
        <p:txBody>
          <a:bodyPr wrap="none" rtlCol="0">
            <a:spAutoFit/>
          </a:bodyPr>
          <a:lstStyle/>
          <a:p>
            <a:pPr algn="ctr"/>
            <a:r>
              <a:rPr lang="zh-CN" altLang="en-US" sz="1600" b="1" dirty="0"/>
              <a:t>全球前五大</a:t>
            </a:r>
            <a:r>
              <a:rPr lang="zh-CN" altLang="en-US" sz="1600" b="1" dirty="0">
                <a:solidFill>
                  <a:srgbClr val="C00000"/>
                </a:solidFill>
              </a:rPr>
              <a:t>独立第三方</a:t>
            </a:r>
            <a:r>
              <a:rPr lang="zh-CN" altLang="en-US" sz="1600" b="1" dirty="0"/>
              <a:t>芯片设计服务商</a:t>
            </a:r>
            <a:endParaRPr lang="zh-CN" altLang="en-US" sz="1600" b="1" dirty="0"/>
          </a:p>
        </p:txBody>
      </p:sp>
      <p:graphicFrame>
        <p:nvGraphicFramePr>
          <p:cNvPr id="4" name="表格 3"/>
          <p:cNvGraphicFramePr>
            <a:graphicFrameLocks noGrp="1"/>
          </p:cNvGraphicFramePr>
          <p:nvPr/>
        </p:nvGraphicFramePr>
        <p:xfrm>
          <a:off x="267399" y="2216930"/>
          <a:ext cx="11645249" cy="3850107"/>
        </p:xfrm>
        <a:graphic>
          <a:graphicData uri="http://schemas.openxmlformats.org/drawingml/2006/table">
            <a:tbl>
              <a:tblPr firstRow="1" bandRow="1">
                <a:tableStyleId>{5C22544A-7EE6-4342-B048-85BDC9FD1C3A}</a:tableStyleId>
              </a:tblPr>
              <a:tblGrid>
                <a:gridCol w="1051243"/>
                <a:gridCol w="1051243"/>
                <a:gridCol w="1051243"/>
                <a:gridCol w="1051243"/>
                <a:gridCol w="1254443"/>
                <a:gridCol w="1298893"/>
                <a:gridCol w="1896649"/>
                <a:gridCol w="1126960"/>
                <a:gridCol w="1863332"/>
              </a:tblGrid>
              <a:tr h="764937">
                <a:tc>
                  <a:txBody>
                    <a:bodyPr/>
                    <a:lstStyle/>
                    <a:p>
                      <a:pPr algn="ctr"/>
                      <a:r>
                        <a:rPr lang="zh-CN" altLang="en-US" sz="1600" dirty="0"/>
                        <a:t>公司名称</a:t>
                      </a:r>
                      <a:endParaRPr lang="zh-CN" altLang="en-US" sz="1600" dirty="0"/>
                    </a:p>
                  </a:txBody>
                  <a:tcPr anchor="ctr"/>
                </a:tc>
                <a:tc>
                  <a:txBody>
                    <a:bodyPr/>
                    <a:lstStyle/>
                    <a:p>
                      <a:pPr algn="ctr"/>
                      <a:r>
                        <a:rPr lang="zh-CN" altLang="en-US" sz="1600" dirty="0"/>
                        <a:t>成立时间</a:t>
                      </a:r>
                      <a:endParaRPr lang="zh-CN" altLang="en-US" sz="1600" dirty="0"/>
                    </a:p>
                  </a:txBody>
                  <a:tcPr anchor="ctr"/>
                </a:tc>
                <a:tc>
                  <a:txBody>
                    <a:bodyPr/>
                    <a:lstStyle/>
                    <a:p>
                      <a:pPr algn="ctr"/>
                      <a:r>
                        <a:rPr lang="zh-CN" altLang="en-US" sz="1600" dirty="0"/>
                        <a:t>股票代码</a:t>
                      </a:r>
                      <a:endParaRPr lang="zh-CN" altLang="en-US" sz="1600" dirty="0"/>
                    </a:p>
                  </a:txBody>
                  <a:tcPr anchor="ctr"/>
                </a:tc>
                <a:tc>
                  <a:txBody>
                    <a:bodyPr/>
                    <a:lstStyle/>
                    <a:p>
                      <a:pPr algn="ctr"/>
                      <a:r>
                        <a:rPr lang="zh-CN" altLang="en-US" sz="1600" dirty="0"/>
                        <a:t>所属地</a:t>
                      </a:r>
                      <a:endParaRPr lang="zh-CN" altLang="en-US" sz="1600" dirty="0"/>
                    </a:p>
                  </a:txBody>
                  <a:tcPr anchor="ctr"/>
                </a:tc>
                <a:tc>
                  <a:txBody>
                    <a:bodyPr/>
                    <a:lstStyle/>
                    <a:p>
                      <a:pPr algn="ctr"/>
                      <a:r>
                        <a:rPr lang="en-US" altLang="zh-CN" sz="1600" dirty="0"/>
                        <a:t>2021</a:t>
                      </a:r>
                      <a:r>
                        <a:rPr lang="zh-CN" altLang="en-US" sz="1600" dirty="0"/>
                        <a:t>年</a:t>
                      </a:r>
                      <a:endParaRPr lang="en-US" altLang="zh-CN" sz="1600" dirty="0"/>
                    </a:p>
                    <a:p>
                      <a:pPr algn="ctr"/>
                      <a:r>
                        <a:rPr lang="zh-CN" altLang="en-US" sz="1600" dirty="0"/>
                        <a:t>全球市占率</a:t>
                      </a:r>
                      <a:endParaRPr lang="zh-CN" altLang="en-US" sz="1600" dirty="0"/>
                    </a:p>
                  </a:txBody>
                  <a:tcPr anchor="ctr"/>
                </a:tc>
                <a:tc>
                  <a:txBody>
                    <a:bodyPr/>
                    <a:lstStyle/>
                    <a:p>
                      <a:pPr algn="ctr"/>
                      <a:r>
                        <a:rPr lang="en-US" altLang="zh-CN" sz="1600" dirty="0"/>
                        <a:t>2021</a:t>
                      </a:r>
                      <a:r>
                        <a:rPr lang="zh-CN" altLang="en-US" sz="1600" dirty="0"/>
                        <a:t>年全球</a:t>
                      </a:r>
                      <a:endParaRPr lang="en-US" altLang="zh-CN" sz="1600" dirty="0"/>
                    </a:p>
                    <a:p>
                      <a:pPr algn="ctr"/>
                      <a:r>
                        <a:rPr lang="zh-CN" altLang="en-US" sz="1600" dirty="0"/>
                        <a:t>市占率排名</a:t>
                      </a:r>
                      <a:endParaRPr lang="zh-CN" altLang="en-US" sz="1600" dirty="0"/>
                    </a:p>
                  </a:txBody>
                  <a:tcPr anchor="ctr"/>
                </a:tc>
                <a:tc>
                  <a:txBody>
                    <a:bodyPr/>
                    <a:lstStyle/>
                    <a:p>
                      <a:pPr algn="ctr"/>
                      <a:r>
                        <a:rPr lang="zh-CN" altLang="en-US" sz="1600" dirty="0"/>
                        <a:t>当前市值</a:t>
                      </a:r>
                      <a:endParaRPr lang="en-US" altLang="zh-CN" sz="1600" dirty="0"/>
                    </a:p>
                    <a:p>
                      <a:pPr algn="ctr"/>
                      <a:r>
                        <a:rPr lang="zh-CN" altLang="en-US" sz="1600" dirty="0"/>
                        <a:t>（统一折合人民币）</a:t>
                      </a:r>
                      <a:endParaRPr lang="zh-CN" altLang="en-US" sz="1600" dirty="0"/>
                    </a:p>
                  </a:txBody>
                  <a:tcPr anchor="ctr"/>
                </a:tc>
                <a:tc>
                  <a:txBody>
                    <a:bodyPr/>
                    <a:lstStyle/>
                    <a:p>
                      <a:pPr algn="ctr"/>
                      <a:r>
                        <a:rPr lang="zh-CN" altLang="en-US" sz="1600" dirty="0"/>
                        <a:t>合作</a:t>
                      </a:r>
                      <a:r>
                        <a:rPr lang="en-US" altLang="zh-CN" sz="1600" dirty="0"/>
                        <a:t>FAB</a:t>
                      </a:r>
                      <a:endParaRPr lang="zh-CN" altLang="en-US" sz="1600" dirty="0"/>
                    </a:p>
                  </a:txBody>
                  <a:tcPr anchor="ctr"/>
                </a:tc>
                <a:tc>
                  <a:txBody>
                    <a:bodyPr/>
                    <a:lstStyle/>
                    <a:p>
                      <a:pPr algn="ctr"/>
                      <a:r>
                        <a:rPr lang="zh-CN" altLang="en-US" sz="1600" dirty="0"/>
                        <a:t>备注</a:t>
                      </a:r>
                      <a:endParaRPr lang="zh-CN" altLang="en-US" sz="1600" dirty="0"/>
                    </a:p>
                  </a:txBody>
                  <a:tcPr anchor="ctr"/>
                </a:tc>
              </a:tr>
              <a:tr h="617034">
                <a:tc>
                  <a:txBody>
                    <a:bodyPr/>
                    <a:lstStyle/>
                    <a:p>
                      <a:pPr algn="ctr"/>
                      <a:r>
                        <a:rPr lang="zh-CN" altLang="en-US" sz="1600" dirty="0"/>
                        <a:t>创意电子</a:t>
                      </a:r>
                      <a:endParaRPr lang="zh-CN" altLang="en-US" sz="1600" dirty="0"/>
                    </a:p>
                  </a:txBody>
                  <a:tcPr anchor="ctr"/>
                </a:tc>
                <a:tc>
                  <a:txBody>
                    <a:bodyPr/>
                    <a:lstStyle/>
                    <a:p>
                      <a:pPr algn="ctr"/>
                      <a:r>
                        <a:rPr lang="en-US" altLang="zh-CN" sz="1600" dirty="0"/>
                        <a:t>1998</a:t>
                      </a:r>
                      <a:r>
                        <a:rPr lang="zh-CN" altLang="en-US" sz="1600" dirty="0"/>
                        <a:t>年</a:t>
                      </a:r>
                      <a:endParaRPr lang="zh-CN" altLang="en-US" sz="1600" dirty="0"/>
                    </a:p>
                  </a:txBody>
                  <a:tcPr anchor="ctr"/>
                </a:tc>
                <a:tc>
                  <a:txBody>
                    <a:bodyPr/>
                    <a:lstStyle/>
                    <a:p>
                      <a:pPr algn="ctr"/>
                      <a:r>
                        <a:rPr lang="en-US" altLang="zh-CN" sz="1600" dirty="0"/>
                        <a:t>3443.TW</a:t>
                      </a:r>
                      <a:endParaRPr lang="zh-CN" altLang="en-US" sz="1600" dirty="0"/>
                    </a:p>
                  </a:txBody>
                  <a:tcPr anchor="ctr"/>
                </a:tc>
                <a:tc>
                  <a:txBody>
                    <a:bodyPr/>
                    <a:lstStyle/>
                    <a:p>
                      <a:pPr algn="ctr"/>
                      <a:r>
                        <a:rPr lang="zh-CN" altLang="en-US" sz="1600" dirty="0"/>
                        <a:t>中国台湾</a:t>
                      </a:r>
                      <a:endParaRPr lang="zh-CN" altLang="en-US" sz="1600" dirty="0"/>
                    </a:p>
                  </a:txBody>
                  <a:tcPr anchor="ctr"/>
                </a:tc>
                <a:tc>
                  <a:txBody>
                    <a:bodyPr/>
                    <a:lstStyle/>
                    <a:p>
                      <a:pPr algn="ctr"/>
                      <a:r>
                        <a:rPr lang="en-US" altLang="zh-CN" sz="1600" dirty="0"/>
                        <a:t>18.0%</a:t>
                      </a:r>
                      <a:endParaRPr lang="zh-CN" altLang="en-US" sz="1600" dirty="0"/>
                    </a:p>
                  </a:txBody>
                  <a:tcPr anchor="ctr"/>
                </a:tc>
                <a:tc>
                  <a:txBody>
                    <a:bodyPr/>
                    <a:lstStyle/>
                    <a:p>
                      <a:pPr algn="ctr"/>
                      <a:r>
                        <a:rPr lang="en-US" altLang="zh-CN" sz="1600" dirty="0"/>
                        <a:t>1</a:t>
                      </a:r>
                      <a:endParaRPr lang="zh-CN" altLang="en-US" sz="1600" dirty="0"/>
                    </a:p>
                  </a:txBody>
                  <a:tcPr anchor="ctr"/>
                </a:tc>
                <a:tc>
                  <a:txBody>
                    <a:bodyPr/>
                    <a:lstStyle/>
                    <a:p>
                      <a:pPr algn="ctr"/>
                      <a:r>
                        <a:rPr lang="en-US" altLang="zh-CN" sz="1600" dirty="0"/>
                        <a:t>615 </a:t>
                      </a:r>
                      <a:r>
                        <a:rPr lang="zh-CN" altLang="en-US" sz="1600" dirty="0"/>
                        <a:t>亿元</a:t>
                      </a:r>
                      <a:endParaRPr lang="zh-CN" altLang="en-US" sz="1600" dirty="0"/>
                    </a:p>
                  </a:txBody>
                  <a:tcPr anchor="ctr"/>
                </a:tc>
                <a:tc>
                  <a:txBody>
                    <a:bodyPr/>
                    <a:lstStyle/>
                    <a:p>
                      <a:pPr algn="ctr"/>
                      <a:r>
                        <a:rPr lang="zh-CN" altLang="en-US" sz="1600" dirty="0"/>
                        <a:t>台积电</a:t>
                      </a:r>
                      <a:endParaRPr lang="zh-CN" altLang="en-US" sz="1600" dirty="0"/>
                    </a:p>
                  </a:txBody>
                  <a:tcPr anchor="ctr"/>
                </a:tc>
                <a:tc>
                  <a:txBody>
                    <a:bodyPr/>
                    <a:lstStyle/>
                    <a:p>
                      <a:pPr algn="ctr"/>
                      <a:r>
                        <a:rPr lang="zh-CN" altLang="en-US" sz="1600" dirty="0"/>
                        <a:t>台积电持股</a:t>
                      </a:r>
                      <a:r>
                        <a:rPr lang="en-US" altLang="zh-CN" sz="1600" dirty="0"/>
                        <a:t>34.84%</a:t>
                      </a:r>
                      <a:endParaRPr lang="zh-CN" altLang="en-US" sz="1600" dirty="0"/>
                    </a:p>
                  </a:txBody>
                  <a:tcPr anchor="ctr"/>
                </a:tc>
              </a:tr>
              <a:tr h="617034">
                <a:tc>
                  <a:txBody>
                    <a:bodyPr/>
                    <a:lstStyle/>
                    <a:p>
                      <a:pPr algn="ctr"/>
                      <a:r>
                        <a:rPr lang="zh-CN" altLang="en-US" sz="1600" dirty="0"/>
                        <a:t>世芯电子</a:t>
                      </a:r>
                      <a:endParaRPr lang="zh-CN" altLang="en-US" sz="1600" dirty="0"/>
                    </a:p>
                  </a:txBody>
                  <a:tcPr anchor="ctr"/>
                </a:tc>
                <a:tc>
                  <a:txBody>
                    <a:bodyPr/>
                    <a:lstStyle/>
                    <a:p>
                      <a:pPr algn="ctr"/>
                      <a:r>
                        <a:rPr lang="en-US" altLang="zh-CN" sz="1600" dirty="0"/>
                        <a:t>2003</a:t>
                      </a:r>
                      <a:r>
                        <a:rPr lang="zh-CN" altLang="en-US" sz="1600" dirty="0"/>
                        <a:t>年</a:t>
                      </a:r>
                      <a:endParaRPr lang="zh-CN" altLang="en-US" sz="1600" dirty="0"/>
                    </a:p>
                  </a:txBody>
                  <a:tcPr anchor="ctr"/>
                </a:tc>
                <a:tc>
                  <a:txBody>
                    <a:bodyPr/>
                    <a:lstStyle/>
                    <a:p>
                      <a:pPr algn="ctr"/>
                      <a:r>
                        <a:rPr lang="en-US" altLang="zh-CN" sz="1600" dirty="0"/>
                        <a:t>3661.TW</a:t>
                      </a:r>
                      <a:endParaRPr lang="zh-CN" altLang="en-US" sz="160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600" dirty="0"/>
                        <a:t>中国台湾</a:t>
                      </a:r>
                      <a:endParaRPr lang="zh-CN" altLang="en-US" sz="1600" dirty="0"/>
                    </a:p>
                  </a:txBody>
                  <a:tcPr anchor="ctr"/>
                </a:tc>
                <a:tc>
                  <a:txBody>
                    <a:bodyPr/>
                    <a:lstStyle/>
                    <a:p>
                      <a:pPr algn="ctr"/>
                      <a:r>
                        <a:rPr lang="en-US" altLang="zh-CN" sz="1600" dirty="0"/>
                        <a:t>12.4%</a:t>
                      </a:r>
                      <a:endParaRPr lang="zh-CN" altLang="en-US" sz="1600" dirty="0"/>
                    </a:p>
                  </a:txBody>
                  <a:tcPr anchor="ctr"/>
                </a:tc>
                <a:tc>
                  <a:txBody>
                    <a:bodyPr/>
                    <a:lstStyle/>
                    <a:p>
                      <a:pPr algn="ctr"/>
                      <a:r>
                        <a:rPr lang="en-US" altLang="zh-CN" sz="1600" dirty="0"/>
                        <a:t>2</a:t>
                      </a:r>
                      <a:endParaRPr lang="zh-CN" altLang="en-US" sz="1600" dirty="0"/>
                    </a:p>
                  </a:txBody>
                  <a:tcPr anchor="ctr"/>
                </a:tc>
                <a:tc>
                  <a:txBody>
                    <a:bodyPr/>
                    <a:lstStyle/>
                    <a:p>
                      <a:pPr algn="ctr"/>
                      <a:r>
                        <a:rPr lang="en-US" altLang="zh-CN" sz="1600" dirty="0"/>
                        <a:t>614 </a:t>
                      </a:r>
                      <a:r>
                        <a:rPr lang="zh-CN" altLang="en-US" sz="1600" dirty="0"/>
                        <a:t>亿元</a:t>
                      </a:r>
                      <a:endParaRPr lang="zh-CN" altLang="en-US" sz="160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600" dirty="0"/>
                        <a:t>台积电</a:t>
                      </a:r>
                      <a:endParaRPr lang="zh-CN" altLang="en-US" sz="1600" dirty="0"/>
                    </a:p>
                  </a:txBody>
                  <a:tcPr anchor="ctr"/>
                </a:tc>
                <a:tc>
                  <a:txBody>
                    <a:bodyPr/>
                    <a:lstStyle/>
                    <a:p>
                      <a:pPr algn="ctr"/>
                      <a:endParaRPr lang="zh-CN" altLang="en-US" sz="1600" dirty="0"/>
                    </a:p>
                  </a:txBody>
                  <a:tcPr anchor="ctr"/>
                </a:tc>
              </a:tr>
              <a:tr h="617034">
                <a:tc>
                  <a:txBody>
                    <a:bodyPr/>
                    <a:lstStyle/>
                    <a:p>
                      <a:pPr algn="ctr"/>
                      <a:r>
                        <a:rPr lang="zh-CN" altLang="en-US" sz="1600" dirty="0">
                          <a:solidFill>
                            <a:srgbClr val="C00000"/>
                          </a:solidFill>
                        </a:rPr>
                        <a:t>芯原股份</a:t>
                      </a:r>
                      <a:endParaRPr lang="zh-CN" altLang="en-US" sz="1600" dirty="0">
                        <a:solidFill>
                          <a:srgbClr val="C00000"/>
                        </a:solidFill>
                      </a:endParaRPr>
                    </a:p>
                  </a:txBody>
                  <a:tcPr anchor="ctr"/>
                </a:tc>
                <a:tc>
                  <a:txBody>
                    <a:bodyPr/>
                    <a:lstStyle/>
                    <a:p>
                      <a:pPr algn="ctr"/>
                      <a:r>
                        <a:rPr lang="en-US" altLang="zh-CN" sz="1600" dirty="0">
                          <a:solidFill>
                            <a:srgbClr val="C00000"/>
                          </a:solidFill>
                        </a:rPr>
                        <a:t>2001</a:t>
                      </a:r>
                      <a:r>
                        <a:rPr lang="zh-CN" altLang="en-US" sz="1600" dirty="0">
                          <a:solidFill>
                            <a:srgbClr val="C00000"/>
                          </a:solidFill>
                        </a:rPr>
                        <a:t>年</a:t>
                      </a:r>
                      <a:endParaRPr lang="zh-CN" altLang="en-US" sz="1600" dirty="0">
                        <a:solidFill>
                          <a:srgbClr val="C00000"/>
                        </a:solidFill>
                      </a:endParaRPr>
                    </a:p>
                  </a:txBody>
                  <a:tcPr anchor="ctr"/>
                </a:tc>
                <a:tc>
                  <a:txBody>
                    <a:bodyPr/>
                    <a:lstStyle/>
                    <a:p>
                      <a:pPr algn="ctr"/>
                      <a:r>
                        <a:rPr lang="en-US" altLang="zh-CN" sz="1600" dirty="0">
                          <a:solidFill>
                            <a:srgbClr val="C00000"/>
                          </a:solidFill>
                        </a:rPr>
                        <a:t>688521</a:t>
                      </a:r>
                      <a:endParaRPr lang="zh-CN" altLang="en-US" sz="1600" dirty="0">
                        <a:solidFill>
                          <a:srgbClr val="C00000"/>
                        </a:solidFill>
                      </a:endParaRPr>
                    </a:p>
                  </a:txBody>
                  <a:tcPr anchor="ctr"/>
                </a:tc>
                <a:tc>
                  <a:txBody>
                    <a:bodyPr/>
                    <a:lstStyle/>
                    <a:p>
                      <a:pPr algn="ctr"/>
                      <a:r>
                        <a:rPr lang="zh-CN" altLang="en-US" sz="1600" dirty="0">
                          <a:solidFill>
                            <a:srgbClr val="C00000"/>
                          </a:solidFill>
                        </a:rPr>
                        <a:t>中国大陆</a:t>
                      </a:r>
                      <a:endParaRPr lang="zh-CN" altLang="en-US" sz="1600" dirty="0">
                        <a:solidFill>
                          <a:srgbClr val="C00000"/>
                        </a:solidFill>
                      </a:endParaRPr>
                    </a:p>
                  </a:txBody>
                  <a:tcPr anchor="ctr"/>
                </a:tc>
                <a:tc>
                  <a:txBody>
                    <a:bodyPr/>
                    <a:lstStyle/>
                    <a:p>
                      <a:pPr algn="ctr"/>
                      <a:r>
                        <a:rPr lang="en-US" altLang="zh-CN" sz="1600" dirty="0">
                          <a:solidFill>
                            <a:srgbClr val="C00000"/>
                          </a:solidFill>
                        </a:rPr>
                        <a:t>11.1%</a:t>
                      </a:r>
                      <a:endParaRPr lang="zh-CN" altLang="en-US" sz="1600" dirty="0">
                        <a:solidFill>
                          <a:srgbClr val="C00000"/>
                        </a:solidFill>
                      </a:endParaRPr>
                    </a:p>
                  </a:txBody>
                  <a:tcPr anchor="ctr"/>
                </a:tc>
                <a:tc>
                  <a:txBody>
                    <a:bodyPr/>
                    <a:lstStyle/>
                    <a:p>
                      <a:pPr algn="ctr"/>
                      <a:r>
                        <a:rPr lang="en-US" altLang="zh-CN" sz="1600" dirty="0">
                          <a:solidFill>
                            <a:srgbClr val="C00000"/>
                          </a:solidFill>
                        </a:rPr>
                        <a:t>3</a:t>
                      </a:r>
                      <a:endParaRPr lang="zh-CN" altLang="en-US" sz="1600" dirty="0">
                        <a:solidFill>
                          <a:srgbClr val="C00000"/>
                        </a:solidFill>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1600" dirty="0">
                          <a:solidFill>
                            <a:srgbClr val="C00000"/>
                          </a:solidFill>
                        </a:rPr>
                        <a:t>853</a:t>
                      </a:r>
                      <a:r>
                        <a:rPr lang="zh-CN" altLang="en-US" sz="1600" dirty="0">
                          <a:solidFill>
                            <a:srgbClr val="C00000"/>
                          </a:solidFill>
                        </a:rPr>
                        <a:t>亿元</a:t>
                      </a:r>
                      <a:endParaRPr lang="zh-CN" altLang="en-US" sz="1600" dirty="0">
                        <a:solidFill>
                          <a:srgbClr val="C00000"/>
                        </a:solidFill>
                      </a:endParaRPr>
                    </a:p>
                  </a:txBody>
                  <a:tcPr anchor="ctr"/>
                </a:tc>
                <a:tc>
                  <a:txBody>
                    <a:bodyPr/>
                    <a:lstStyle/>
                    <a:p>
                      <a:pPr algn="ctr"/>
                      <a:r>
                        <a:rPr lang="zh-CN" altLang="en-US" sz="1600" dirty="0">
                          <a:solidFill>
                            <a:srgbClr val="C00000"/>
                          </a:solidFill>
                        </a:rPr>
                        <a:t>多晶原厂</a:t>
                      </a:r>
                      <a:endParaRPr lang="zh-CN" altLang="en-US" sz="1600" dirty="0">
                        <a:solidFill>
                          <a:srgbClr val="C00000"/>
                        </a:solidFill>
                      </a:endParaRPr>
                    </a:p>
                  </a:txBody>
                  <a:tcPr anchor="ctr"/>
                </a:tc>
                <a:tc>
                  <a:txBody>
                    <a:bodyPr/>
                    <a:lstStyle/>
                    <a:p>
                      <a:pPr algn="ctr"/>
                      <a:endParaRPr lang="zh-CN" altLang="en-US" sz="1600" dirty="0">
                        <a:solidFill>
                          <a:srgbClr val="C00000"/>
                        </a:solidFill>
                      </a:endParaRPr>
                    </a:p>
                  </a:txBody>
                  <a:tcPr anchor="ctr"/>
                </a:tc>
              </a:tr>
              <a:tr h="617034">
                <a:tc>
                  <a:txBody>
                    <a:bodyPr/>
                    <a:lstStyle/>
                    <a:p>
                      <a:pPr algn="ctr"/>
                      <a:r>
                        <a:rPr lang="zh-CN" altLang="en-US" sz="1600" dirty="0"/>
                        <a:t>智原科技</a:t>
                      </a:r>
                      <a:endParaRPr lang="zh-CN" altLang="en-US" sz="1600" dirty="0"/>
                    </a:p>
                  </a:txBody>
                  <a:tcPr anchor="ctr"/>
                </a:tc>
                <a:tc>
                  <a:txBody>
                    <a:bodyPr/>
                    <a:lstStyle/>
                    <a:p>
                      <a:pPr algn="ctr"/>
                      <a:r>
                        <a:rPr lang="en-US" altLang="zh-CN" sz="1600" dirty="0"/>
                        <a:t>1993</a:t>
                      </a:r>
                      <a:r>
                        <a:rPr lang="zh-CN" altLang="en-US" sz="1600" dirty="0"/>
                        <a:t>年</a:t>
                      </a:r>
                      <a:endParaRPr lang="zh-CN" altLang="en-US" sz="1600" dirty="0"/>
                    </a:p>
                  </a:txBody>
                  <a:tcPr anchor="ctr"/>
                </a:tc>
                <a:tc>
                  <a:txBody>
                    <a:bodyPr/>
                    <a:lstStyle/>
                    <a:p>
                      <a:pPr algn="ctr"/>
                      <a:r>
                        <a:rPr lang="en-US" altLang="zh-CN" sz="1600" dirty="0"/>
                        <a:t>3035.TW</a:t>
                      </a:r>
                      <a:endParaRPr lang="zh-CN" altLang="en-US" sz="160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600" dirty="0"/>
                        <a:t>中国台湾</a:t>
                      </a:r>
                      <a:endParaRPr lang="zh-CN" altLang="en-US" sz="1600" dirty="0"/>
                    </a:p>
                  </a:txBody>
                  <a:tcPr anchor="ctr"/>
                </a:tc>
                <a:tc>
                  <a:txBody>
                    <a:bodyPr/>
                    <a:lstStyle/>
                    <a:p>
                      <a:pPr algn="ctr"/>
                      <a:r>
                        <a:rPr lang="en-US" altLang="zh-CN" sz="1600" dirty="0"/>
                        <a:t>9.6%</a:t>
                      </a:r>
                      <a:endParaRPr lang="zh-CN" altLang="en-US" sz="1600" dirty="0"/>
                    </a:p>
                  </a:txBody>
                  <a:tcPr anchor="ctr"/>
                </a:tc>
                <a:tc>
                  <a:txBody>
                    <a:bodyPr/>
                    <a:lstStyle/>
                    <a:p>
                      <a:pPr algn="ctr"/>
                      <a:r>
                        <a:rPr lang="en-US" altLang="zh-CN" sz="1600" dirty="0"/>
                        <a:t>4</a:t>
                      </a:r>
                      <a:endParaRPr lang="zh-CN" altLang="en-US" sz="1600" dirty="0"/>
                    </a:p>
                  </a:txBody>
                  <a:tcPr anchor="ctr"/>
                </a:tc>
                <a:tc>
                  <a:txBody>
                    <a:bodyPr/>
                    <a:lstStyle/>
                    <a:p>
                      <a:pPr algn="ctr"/>
                      <a:r>
                        <a:rPr lang="en-US" altLang="zh-CN" sz="1600" dirty="0"/>
                        <a:t>96 </a:t>
                      </a:r>
                      <a:r>
                        <a:rPr lang="zh-CN" altLang="en-US" sz="1600" dirty="0"/>
                        <a:t>亿元</a:t>
                      </a:r>
                      <a:endParaRPr lang="zh-CN" altLang="en-US" sz="160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600" dirty="0"/>
                        <a:t>台联电</a:t>
                      </a:r>
                      <a:endParaRPr lang="zh-CN" altLang="en-US" sz="1600" dirty="0"/>
                    </a:p>
                  </a:txBody>
                  <a:tcPr anchor="ctr"/>
                </a:tc>
                <a:tc>
                  <a:txBody>
                    <a:bodyPr/>
                    <a:lstStyle/>
                    <a:p>
                      <a:pPr algn="ctr"/>
                      <a:endParaRPr lang="zh-CN" altLang="en-US" sz="1600"/>
                    </a:p>
                  </a:txBody>
                  <a:tcPr anchor="ctr"/>
                </a:tc>
              </a:tr>
              <a:tr h="617034">
                <a:tc>
                  <a:txBody>
                    <a:bodyPr/>
                    <a:lstStyle/>
                    <a:p>
                      <a:pPr algn="ctr"/>
                      <a:r>
                        <a:rPr lang="zh-CN" altLang="en-US" sz="1600" dirty="0">
                          <a:solidFill>
                            <a:srgbClr val="C00000"/>
                          </a:solidFill>
                        </a:rPr>
                        <a:t>灿芯股份</a:t>
                      </a:r>
                      <a:endParaRPr lang="zh-CN" altLang="en-US" sz="1600" dirty="0">
                        <a:solidFill>
                          <a:srgbClr val="C00000"/>
                        </a:solidFill>
                      </a:endParaRPr>
                    </a:p>
                  </a:txBody>
                  <a:tcPr anchor="ctr"/>
                </a:tc>
                <a:tc>
                  <a:txBody>
                    <a:bodyPr/>
                    <a:lstStyle/>
                    <a:p>
                      <a:pPr algn="ctr"/>
                      <a:r>
                        <a:rPr lang="en-US" altLang="zh-CN" sz="1600" dirty="0">
                          <a:solidFill>
                            <a:srgbClr val="C00000"/>
                          </a:solidFill>
                        </a:rPr>
                        <a:t>2008</a:t>
                      </a:r>
                      <a:r>
                        <a:rPr lang="zh-CN" altLang="en-US" sz="1600" dirty="0">
                          <a:solidFill>
                            <a:srgbClr val="C00000"/>
                          </a:solidFill>
                        </a:rPr>
                        <a:t>年</a:t>
                      </a:r>
                      <a:endParaRPr lang="zh-CN" altLang="en-US" sz="1600" dirty="0">
                        <a:solidFill>
                          <a:srgbClr val="C00000"/>
                        </a:solidFill>
                      </a:endParaRPr>
                    </a:p>
                  </a:txBody>
                  <a:tcPr anchor="ctr"/>
                </a:tc>
                <a:tc>
                  <a:txBody>
                    <a:bodyPr/>
                    <a:lstStyle/>
                    <a:p>
                      <a:pPr algn="ctr"/>
                      <a:r>
                        <a:rPr lang="en-US" altLang="zh-CN" sz="1600" dirty="0">
                          <a:solidFill>
                            <a:srgbClr val="C00000"/>
                          </a:solidFill>
                        </a:rPr>
                        <a:t>688691</a:t>
                      </a:r>
                      <a:endParaRPr lang="zh-CN" altLang="en-US" sz="1600" dirty="0">
                        <a:solidFill>
                          <a:srgbClr val="C00000"/>
                        </a:solidFill>
                      </a:endParaRPr>
                    </a:p>
                  </a:txBody>
                  <a:tcPr anchor="ctr"/>
                </a:tc>
                <a:tc>
                  <a:txBody>
                    <a:bodyPr/>
                    <a:lstStyle/>
                    <a:p>
                      <a:pPr algn="ctr"/>
                      <a:r>
                        <a:rPr lang="zh-CN" altLang="en-US" sz="1600" dirty="0">
                          <a:solidFill>
                            <a:srgbClr val="C00000"/>
                          </a:solidFill>
                        </a:rPr>
                        <a:t>中国大陆</a:t>
                      </a:r>
                      <a:endParaRPr lang="zh-CN" altLang="en-US" sz="1600" dirty="0">
                        <a:solidFill>
                          <a:srgbClr val="C00000"/>
                        </a:solidFill>
                      </a:endParaRPr>
                    </a:p>
                  </a:txBody>
                  <a:tcPr anchor="ctr"/>
                </a:tc>
                <a:tc>
                  <a:txBody>
                    <a:bodyPr/>
                    <a:lstStyle/>
                    <a:p>
                      <a:pPr algn="ctr"/>
                      <a:r>
                        <a:rPr lang="en-US" altLang="zh-CN" sz="1600" dirty="0">
                          <a:solidFill>
                            <a:srgbClr val="C00000"/>
                          </a:solidFill>
                        </a:rPr>
                        <a:t>4.9%</a:t>
                      </a:r>
                      <a:endParaRPr lang="zh-CN" altLang="en-US" sz="1600" dirty="0">
                        <a:solidFill>
                          <a:srgbClr val="C00000"/>
                        </a:solidFill>
                      </a:endParaRPr>
                    </a:p>
                  </a:txBody>
                  <a:tcPr anchor="ctr"/>
                </a:tc>
                <a:tc>
                  <a:txBody>
                    <a:bodyPr/>
                    <a:lstStyle/>
                    <a:p>
                      <a:pPr algn="ctr"/>
                      <a:r>
                        <a:rPr lang="en-US" altLang="zh-CN" sz="1600" dirty="0">
                          <a:solidFill>
                            <a:srgbClr val="C00000"/>
                          </a:solidFill>
                        </a:rPr>
                        <a:t>5</a:t>
                      </a:r>
                      <a:endParaRPr lang="zh-CN" altLang="en-US" sz="1600" dirty="0">
                        <a:solidFill>
                          <a:srgbClr val="C00000"/>
                        </a:solidFill>
                      </a:endParaRPr>
                    </a:p>
                  </a:txBody>
                  <a:tcPr anchor="ctr"/>
                </a:tc>
                <a:tc>
                  <a:txBody>
                    <a:bodyPr/>
                    <a:lstStyle/>
                    <a:p>
                      <a:pPr algn="ctr"/>
                      <a:r>
                        <a:rPr lang="en-US" altLang="zh-CN" sz="1600" dirty="0">
                          <a:solidFill>
                            <a:srgbClr val="C00000"/>
                          </a:solidFill>
                        </a:rPr>
                        <a:t>128 </a:t>
                      </a:r>
                      <a:r>
                        <a:rPr lang="zh-CN" altLang="en-US" sz="1600" dirty="0">
                          <a:solidFill>
                            <a:srgbClr val="C00000"/>
                          </a:solidFill>
                        </a:rPr>
                        <a:t>亿元</a:t>
                      </a:r>
                      <a:endParaRPr lang="zh-CN" altLang="en-US" sz="1600" dirty="0">
                        <a:solidFill>
                          <a:srgbClr val="C00000"/>
                        </a:solidFill>
                      </a:endParaRPr>
                    </a:p>
                  </a:txBody>
                  <a:tcPr anchor="ctr"/>
                </a:tc>
                <a:tc>
                  <a:txBody>
                    <a:bodyPr/>
                    <a:lstStyle/>
                    <a:p>
                      <a:pPr algn="ctr"/>
                      <a:r>
                        <a:rPr lang="zh-CN" altLang="en-US" sz="1600" dirty="0">
                          <a:solidFill>
                            <a:srgbClr val="C00000"/>
                          </a:solidFill>
                        </a:rPr>
                        <a:t>中芯国际</a:t>
                      </a:r>
                      <a:endParaRPr lang="zh-CN" altLang="en-US" sz="1600" dirty="0">
                        <a:solidFill>
                          <a:srgbClr val="C00000"/>
                        </a:solidFill>
                      </a:endParaRPr>
                    </a:p>
                  </a:txBody>
                  <a:tcPr anchor="ctr"/>
                </a:tc>
                <a:tc>
                  <a:txBody>
                    <a:bodyPr/>
                    <a:lstStyle/>
                    <a:p>
                      <a:pPr algn="ctr"/>
                      <a:r>
                        <a:rPr lang="zh-CN" altLang="en-US" sz="1600" dirty="0">
                          <a:solidFill>
                            <a:srgbClr val="C00000"/>
                          </a:solidFill>
                        </a:rPr>
                        <a:t>中芯国际持股</a:t>
                      </a:r>
                      <a:r>
                        <a:rPr lang="en-US" altLang="zh-CN" sz="1600" dirty="0">
                          <a:solidFill>
                            <a:srgbClr val="C00000"/>
                          </a:solidFill>
                        </a:rPr>
                        <a:t>14.23%</a:t>
                      </a:r>
                      <a:r>
                        <a:rPr lang="zh-CN" altLang="en-US" sz="1600" dirty="0">
                          <a:solidFill>
                            <a:srgbClr val="C00000"/>
                          </a:solidFill>
                        </a:rPr>
                        <a:t>，第二大</a:t>
                      </a:r>
                      <a:endParaRPr lang="zh-CN" altLang="en-US" sz="1600" dirty="0">
                        <a:solidFill>
                          <a:srgbClr val="C00000"/>
                        </a:solidFill>
                      </a:endParaRPr>
                    </a:p>
                  </a:txBody>
                  <a:tcPr anchor="ctr"/>
                </a:tc>
              </a:tr>
            </a:tbl>
          </a:graphicData>
        </a:graphic>
      </p:graphicFrame>
      <p:sp>
        <p:nvSpPr>
          <p:cNvPr id="7" name="文本框 6"/>
          <p:cNvSpPr txBox="1"/>
          <p:nvPr/>
        </p:nvSpPr>
        <p:spPr>
          <a:xfrm>
            <a:off x="5591176" y="6327601"/>
            <a:ext cx="6369916" cy="307777"/>
          </a:xfrm>
          <a:prstGeom prst="rect">
            <a:avLst/>
          </a:prstGeom>
          <a:noFill/>
        </p:spPr>
        <p:txBody>
          <a:bodyPr wrap="square">
            <a:spAutoFit/>
          </a:bodyPr>
          <a:lstStyle/>
          <a:p>
            <a:pPr algn="r"/>
            <a:r>
              <a:rPr lang="zh-CN" altLang="en-US" sz="1400" dirty="0">
                <a:latin typeface="宋体" panose="02010600030101010101" pitchFamily="2" charset="-122"/>
                <a:ea typeface="宋体" panose="02010600030101010101" pitchFamily="2" charset="-122"/>
              </a:rPr>
              <a:t>资料来源：</a:t>
            </a:r>
            <a:r>
              <a:rPr lang="zh-CN" altLang="en-US" sz="1400" dirty="0">
                <a:latin typeface="宋体" panose="02010600030101010101" pitchFamily="2" charset="-122"/>
                <a:ea typeface="宋体" panose="02010600030101010101" pitchFamily="2" charset="-122"/>
                <a:cs typeface="Times New Roman" panose="02020603050405020304" pitchFamily="18" charset="0"/>
              </a:rPr>
              <a:t>上海市集成电路行业协会，灿芯股份招股说明书，亿欧智库</a:t>
            </a:r>
            <a:endParaRPr lang="zh-CN" altLang="en-US" sz="1400" dirty="0">
              <a:latin typeface="宋体" panose="02010600030101010101" pitchFamily="2" charset="-122"/>
              <a:ea typeface="宋体" panose="02010600030101010101" pitchFamily="2" charset="-122"/>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flipH="1">
            <a:off x="224084" y="159798"/>
            <a:ext cx="7285366" cy="369332"/>
          </a:xfrm>
          <a:prstGeom prst="rect">
            <a:avLst/>
          </a:prstGeom>
          <a:noFill/>
        </p:spPr>
        <p:txBody>
          <a:bodyPr wrap="square" rtlCol="0">
            <a:spAutoFit/>
          </a:bodyPr>
          <a:lstStyle/>
          <a:p>
            <a:r>
              <a:rPr lang="zh-CN" altLang="en-US" b="1" dirty="0">
                <a:latin typeface="宋体" panose="02010600030101010101" pitchFamily="2" charset="-122"/>
                <a:ea typeface="宋体" panose="02010600030101010101" pitchFamily="2" charset="-122"/>
              </a:rPr>
              <a:t>算力芯片</a:t>
            </a:r>
            <a:r>
              <a:rPr lang="en-US" altLang="zh-CN" b="1" dirty="0">
                <a:latin typeface="宋体" panose="02010600030101010101" pitchFamily="2" charset="-122"/>
                <a:ea typeface="宋体" panose="02010600030101010101" pitchFamily="2" charset="-122"/>
              </a:rPr>
              <a:t>ASIC</a:t>
            </a:r>
            <a:r>
              <a:rPr lang="zh-CN" altLang="en-US" b="1" dirty="0">
                <a:latin typeface="宋体" panose="02010600030101010101" pitchFamily="2" charset="-122"/>
                <a:ea typeface="宋体" panose="02010600030101010101" pitchFamily="2" charset="-122"/>
              </a:rPr>
              <a:t>化带来的投资机会：芯片设计服务厂商崛起</a:t>
            </a:r>
            <a:endParaRPr lang="zh-CN" altLang="en-US" b="1" dirty="0">
              <a:latin typeface="宋体" panose="02010600030101010101" pitchFamily="2" charset="-122"/>
              <a:ea typeface="宋体" panose="02010600030101010101" pitchFamily="2" charset="-122"/>
            </a:endParaRPr>
          </a:p>
        </p:txBody>
      </p:sp>
      <p:sp>
        <p:nvSpPr>
          <p:cNvPr id="14" name="文本框 13"/>
          <p:cNvSpPr txBox="1"/>
          <p:nvPr/>
        </p:nvSpPr>
        <p:spPr>
          <a:xfrm>
            <a:off x="224085" y="593846"/>
            <a:ext cx="11648496" cy="923330"/>
          </a:xfrm>
          <a:prstGeom prst="rect">
            <a:avLst/>
          </a:prstGeom>
          <a:noFill/>
        </p:spPr>
        <p:txBody>
          <a:bodyPr wrap="square">
            <a:spAutoFit/>
          </a:bodyPr>
          <a:lstStyle/>
          <a:p>
            <a:pPr marL="285750" indent="-285750">
              <a:buFont typeface="Wingdings" panose="05000000000000000000" pitchFamily="2" charset="2"/>
              <a:buChar char="u"/>
            </a:pPr>
            <a:r>
              <a:rPr lang="zh-CN" altLang="en-US" dirty="0">
                <a:ea typeface="+mn-lt"/>
                <a:cs typeface="+mn-lt"/>
              </a:rPr>
              <a:t>参考中国台湾地区芯片设计服务行业的发展，龙头企业创意电子和世芯电子股价近十年分别翻了</a:t>
            </a:r>
            <a:r>
              <a:rPr lang="en-US" altLang="zh-CN" dirty="0">
                <a:ea typeface="+mn-lt"/>
                <a:cs typeface="+mn-lt"/>
              </a:rPr>
              <a:t>32</a:t>
            </a:r>
            <a:r>
              <a:rPr lang="zh-CN" altLang="en-US" dirty="0">
                <a:ea typeface="+mn-lt"/>
                <a:cs typeface="+mn-lt"/>
              </a:rPr>
              <a:t>倍和</a:t>
            </a:r>
            <a:r>
              <a:rPr lang="en-US" altLang="zh-CN" dirty="0">
                <a:ea typeface="+mn-lt"/>
                <a:cs typeface="+mn-lt"/>
              </a:rPr>
              <a:t>94</a:t>
            </a:r>
            <a:r>
              <a:rPr lang="zh-CN" altLang="en-US" dirty="0">
                <a:ea typeface="+mn-lt"/>
                <a:cs typeface="+mn-lt"/>
              </a:rPr>
              <a:t>倍。中国大陆地区芯片设计服务行业依托巨大的市场需求及中芯国际优秀的晶圆代工能力，必然会有优秀厂商崛起。重点推荐</a:t>
            </a:r>
            <a:r>
              <a:rPr lang="zh-CN" altLang="en-US" dirty="0">
                <a:solidFill>
                  <a:srgbClr val="C00000"/>
                </a:solidFill>
                <a:ea typeface="+mn-lt"/>
                <a:cs typeface="+mn-lt"/>
              </a:rPr>
              <a:t>灿芯股份</a:t>
            </a:r>
            <a:r>
              <a:rPr lang="zh-CN" altLang="en-US" dirty="0">
                <a:ea typeface="+mn-lt"/>
                <a:cs typeface="+mn-lt"/>
              </a:rPr>
              <a:t>，关注</a:t>
            </a:r>
            <a:r>
              <a:rPr lang="zh-CN" altLang="en-US" dirty="0">
                <a:solidFill>
                  <a:srgbClr val="C00000"/>
                </a:solidFill>
                <a:ea typeface="+mn-lt"/>
                <a:cs typeface="+mn-lt"/>
              </a:rPr>
              <a:t>芯原股份</a:t>
            </a:r>
            <a:r>
              <a:rPr lang="zh-CN" altLang="en-US" dirty="0">
                <a:ea typeface="+mn-lt"/>
                <a:cs typeface="+mn-lt"/>
              </a:rPr>
              <a:t>。</a:t>
            </a:r>
            <a:endParaRPr lang="zh-CN" altLang="en-US" dirty="0">
              <a:ea typeface="+mn-lt"/>
              <a:cs typeface="+mn-lt"/>
            </a:endParaRPr>
          </a:p>
        </p:txBody>
      </p:sp>
      <p:pic>
        <p:nvPicPr>
          <p:cNvPr id="4" name="图片 3"/>
          <p:cNvPicPr>
            <a:picLocks noChangeAspect="1"/>
          </p:cNvPicPr>
          <p:nvPr/>
        </p:nvPicPr>
        <p:blipFill>
          <a:blip r:embed="rId1"/>
          <a:srcRect b="1184"/>
          <a:stretch>
            <a:fillRect/>
          </a:stretch>
        </p:blipFill>
        <p:spPr>
          <a:xfrm>
            <a:off x="268862" y="2003450"/>
            <a:ext cx="5779471" cy="4402088"/>
          </a:xfrm>
          <a:prstGeom prst="rect">
            <a:avLst/>
          </a:prstGeom>
        </p:spPr>
      </p:pic>
      <p:pic>
        <p:nvPicPr>
          <p:cNvPr id="6" name="图片 5"/>
          <p:cNvPicPr>
            <a:picLocks noChangeAspect="1"/>
          </p:cNvPicPr>
          <p:nvPr/>
        </p:nvPicPr>
        <p:blipFill>
          <a:blip r:embed="rId2"/>
          <a:stretch>
            <a:fillRect/>
          </a:stretch>
        </p:blipFill>
        <p:spPr>
          <a:xfrm>
            <a:off x="6396062" y="2003450"/>
            <a:ext cx="5429546" cy="4402088"/>
          </a:xfrm>
          <a:prstGeom prst="rect">
            <a:avLst/>
          </a:prstGeom>
        </p:spPr>
      </p:pic>
      <p:sp>
        <p:nvSpPr>
          <p:cNvPr id="7" name="文本框 6"/>
          <p:cNvSpPr txBox="1"/>
          <p:nvPr/>
        </p:nvSpPr>
        <p:spPr>
          <a:xfrm>
            <a:off x="1237238" y="1591036"/>
            <a:ext cx="3842720" cy="338554"/>
          </a:xfrm>
          <a:prstGeom prst="rect">
            <a:avLst/>
          </a:prstGeom>
          <a:noFill/>
        </p:spPr>
        <p:txBody>
          <a:bodyPr wrap="none" rtlCol="0">
            <a:spAutoFit/>
          </a:bodyPr>
          <a:lstStyle/>
          <a:p>
            <a:pPr algn="ctr"/>
            <a:r>
              <a:rPr lang="zh-CN" altLang="en-US" sz="1600" b="1" dirty="0"/>
              <a:t>创意电子近十年股价周</a:t>
            </a:r>
            <a:r>
              <a:rPr lang="en-US" altLang="zh-CN" sz="1600" b="1" dirty="0"/>
              <a:t>K</a:t>
            </a:r>
            <a:r>
              <a:rPr lang="zh-CN" altLang="en-US" sz="1600" b="1" dirty="0"/>
              <a:t>线（</a:t>
            </a:r>
            <a:r>
              <a:rPr lang="en-US" altLang="zh-CN" sz="1600" b="1" dirty="0"/>
              <a:t>10</a:t>
            </a:r>
            <a:r>
              <a:rPr lang="zh-CN" altLang="en-US" sz="1600" b="1" dirty="0"/>
              <a:t>年</a:t>
            </a:r>
            <a:r>
              <a:rPr lang="en-US" altLang="zh-CN" sz="1600" b="1" dirty="0"/>
              <a:t>32</a:t>
            </a:r>
            <a:r>
              <a:rPr lang="zh-CN" altLang="en-US" sz="1600" b="1" dirty="0"/>
              <a:t>倍）</a:t>
            </a:r>
            <a:endParaRPr lang="zh-CN" altLang="en-US" sz="1600" b="1" dirty="0"/>
          </a:p>
        </p:txBody>
      </p:sp>
      <p:sp>
        <p:nvSpPr>
          <p:cNvPr id="8" name="文本框 7"/>
          <p:cNvSpPr txBox="1"/>
          <p:nvPr/>
        </p:nvSpPr>
        <p:spPr>
          <a:xfrm>
            <a:off x="7189476" y="1591036"/>
            <a:ext cx="3842720" cy="338554"/>
          </a:xfrm>
          <a:prstGeom prst="rect">
            <a:avLst/>
          </a:prstGeom>
          <a:noFill/>
        </p:spPr>
        <p:txBody>
          <a:bodyPr wrap="none" rtlCol="0">
            <a:spAutoFit/>
          </a:bodyPr>
          <a:lstStyle/>
          <a:p>
            <a:pPr algn="ctr"/>
            <a:r>
              <a:rPr lang="zh-CN" altLang="en-US" sz="1600" b="1" dirty="0"/>
              <a:t>世芯电子近十年股价周</a:t>
            </a:r>
            <a:r>
              <a:rPr lang="en-US" altLang="zh-CN" sz="1600" b="1" dirty="0"/>
              <a:t>K</a:t>
            </a:r>
            <a:r>
              <a:rPr lang="zh-CN" altLang="en-US" sz="1600" b="1" dirty="0"/>
              <a:t>线（</a:t>
            </a:r>
            <a:r>
              <a:rPr lang="en-US" altLang="zh-CN" sz="1600" b="1" dirty="0"/>
              <a:t>10</a:t>
            </a:r>
            <a:r>
              <a:rPr lang="zh-CN" altLang="en-US" sz="1600" b="1" dirty="0"/>
              <a:t>年</a:t>
            </a:r>
            <a:r>
              <a:rPr lang="en-US" altLang="zh-CN" sz="1600" b="1" dirty="0"/>
              <a:t>94</a:t>
            </a:r>
            <a:r>
              <a:rPr lang="zh-CN" altLang="en-US" sz="1600" b="1" dirty="0"/>
              <a:t>倍）</a:t>
            </a:r>
            <a:endParaRPr lang="zh-CN" altLang="en-US" sz="1600" b="1"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flipH="1">
            <a:off x="224084" y="159798"/>
            <a:ext cx="7285366" cy="369332"/>
          </a:xfrm>
          <a:prstGeom prst="rect">
            <a:avLst/>
          </a:prstGeom>
          <a:noFill/>
        </p:spPr>
        <p:txBody>
          <a:bodyPr wrap="square" rtlCol="0">
            <a:spAutoFit/>
          </a:bodyPr>
          <a:lstStyle/>
          <a:p>
            <a:r>
              <a:rPr lang="zh-CN" altLang="en-US" b="1" dirty="0">
                <a:latin typeface="宋体" panose="02010600030101010101" pitchFamily="2" charset="-122"/>
                <a:ea typeface="宋体" panose="02010600030101010101" pitchFamily="2" charset="-122"/>
              </a:rPr>
              <a:t>灿芯股份投资价值分析</a:t>
            </a:r>
            <a:endParaRPr lang="zh-CN" altLang="en-US" b="1" dirty="0">
              <a:latin typeface="宋体" panose="02010600030101010101" pitchFamily="2" charset="-122"/>
              <a:ea typeface="宋体" panose="02010600030101010101" pitchFamily="2" charset="-122"/>
            </a:endParaRPr>
          </a:p>
        </p:txBody>
      </p:sp>
      <p:sp>
        <p:nvSpPr>
          <p:cNvPr id="14" name="文本框 13"/>
          <p:cNvSpPr txBox="1"/>
          <p:nvPr/>
        </p:nvSpPr>
        <p:spPr>
          <a:xfrm>
            <a:off x="224085" y="593846"/>
            <a:ext cx="11648496" cy="923330"/>
          </a:xfrm>
          <a:prstGeom prst="rect">
            <a:avLst/>
          </a:prstGeom>
          <a:noFill/>
        </p:spPr>
        <p:txBody>
          <a:bodyPr wrap="square">
            <a:spAutoFit/>
          </a:bodyPr>
          <a:lstStyle/>
          <a:p>
            <a:pPr marL="285750" indent="-285750">
              <a:buFont typeface="Wingdings" panose="05000000000000000000" pitchFamily="2" charset="2"/>
              <a:buChar char="u"/>
            </a:pPr>
            <a:r>
              <a:rPr lang="zh-CN" altLang="en-US" dirty="0">
                <a:ea typeface="+mn-lt"/>
                <a:cs typeface="+mn-lt"/>
              </a:rPr>
              <a:t>灿芯股份成立于</a:t>
            </a:r>
            <a:r>
              <a:rPr lang="en-US" altLang="zh-CN" dirty="0">
                <a:ea typeface="+mn-lt"/>
                <a:cs typeface="+mn-lt"/>
              </a:rPr>
              <a:t>2008</a:t>
            </a:r>
            <a:r>
              <a:rPr lang="zh-CN" altLang="en-US" dirty="0">
                <a:ea typeface="+mn-lt"/>
                <a:cs typeface="+mn-lt"/>
              </a:rPr>
              <a:t>年</a:t>
            </a:r>
            <a:r>
              <a:rPr lang="en-US" altLang="zh-CN" dirty="0">
                <a:ea typeface="+mn-lt"/>
                <a:cs typeface="+mn-lt"/>
              </a:rPr>
              <a:t>7</a:t>
            </a:r>
            <a:r>
              <a:rPr lang="zh-CN" altLang="en-US" dirty="0">
                <a:ea typeface="+mn-lt"/>
                <a:cs typeface="+mn-lt"/>
              </a:rPr>
              <a:t>月，</a:t>
            </a:r>
            <a:r>
              <a:rPr lang="en-US" altLang="zh-CN" dirty="0">
                <a:ea typeface="+mn-lt"/>
                <a:cs typeface="+mn-lt"/>
              </a:rPr>
              <a:t>2024</a:t>
            </a:r>
            <a:r>
              <a:rPr lang="zh-CN" altLang="en-US" dirty="0">
                <a:ea typeface="+mn-lt"/>
                <a:cs typeface="+mn-lt"/>
              </a:rPr>
              <a:t>年</a:t>
            </a:r>
            <a:r>
              <a:rPr lang="en-US" altLang="zh-CN" dirty="0">
                <a:ea typeface="+mn-lt"/>
                <a:cs typeface="+mn-lt"/>
              </a:rPr>
              <a:t>4</a:t>
            </a:r>
            <a:r>
              <a:rPr lang="zh-CN" altLang="en-US" dirty="0">
                <a:ea typeface="+mn-lt"/>
                <a:cs typeface="+mn-lt"/>
              </a:rPr>
              <a:t>月登录科创板，是一家专注于提供一站式芯片定制服务的集成电路设计服务企业。公司技术能力覆盖芯片开发的全流程，客户可以根据自身需求灵活选择芯片开发过程中全部或部分阶段的服务内容。</a:t>
            </a:r>
            <a:endParaRPr lang="zh-CN" altLang="en-US" dirty="0">
              <a:ea typeface="+mn-lt"/>
              <a:cs typeface="+mn-lt"/>
            </a:endParaRPr>
          </a:p>
        </p:txBody>
      </p:sp>
      <p:pic>
        <p:nvPicPr>
          <p:cNvPr id="4" name="图片 3"/>
          <p:cNvPicPr>
            <a:picLocks noChangeAspect="1"/>
          </p:cNvPicPr>
          <p:nvPr/>
        </p:nvPicPr>
        <p:blipFill>
          <a:blip r:embed="rId1"/>
          <a:stretch>
            <a:fillRect/>
          </a:stretch>
        </p:blipFill>
        <p:spPr>
          <a:xfrm>
            <a:off x="1892312" y="1552661"/>
            <a:ext cx="8407375" cy="5145541"/>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flipH="1">
            <a:off x="224084" y="159798"/>
            <a:ext cx="7285366" cy="369332"/>
          </a:xfrm>
          <a:prstGeom prst="rect">
            <a:avLst/>
          </a:prstGeom>
          <a:noFill/>
        </p:spPr>
        <p:txBody>
          <a:bodyPr wrap="square" rtlCol="0">
            <a:spAutoFit/>
          </a:bodyPr>
          <a:lstStyle/>
          <a:p>
            <a:r>
              <a:rPr lang="zh-CN" altLang="en-US" b="1" dirty="0">
                <a:latin typeface="宋体" panose="02010600030101010101" pitchFamily="2" charset="-122"/>
                <a:ea typeface="宋体" panose="02010600030101010101" pitchFamily="2" charset="-122"/>
              </a:rPr>
              <a:t>灿芯股份投资价值分析</a:t>
            </a:r>
            <a:endParaRPr lang="zh-CN" altLang="en-US" b="1" dirty="0">
              <a:latin typeface="宋体" panose="02010600030101010101" pitchFamily="2" charset="-122"/>
              <a:ea typeface="宋体" panose="02010600030101010101" pitchFamily="2" charset="-122"/>
            </a:endParaRPr>
          </a:p>
        </p:txBody>
      </p:sp>
      <p:sp>
        <p:nvSpPr>
          <p:cNvPr id="14" name="文本框 13"/>
          <p:cNvSpPr txBox="1"/>
          <p:nvPr/>
        </p:nvSpPr>
        <p:spPr>
          <a:xfrm>
            <a:off x="224085" y="593846"/>
            <a:ext cx="11648496" cy="923330"/>
          </a:xfrm>
          <a:prstGeom prst="rect">
            <a:avLst/>
          </a:prstGeom>
          <a:noFill/>
        </p:spPr>
        <p:txBody>
          <a:bodyPr wrap="square">
            <a:spAutoFit/>
          </a:bodyPr>
          <a:lstStyle/>
          <a:p>
            <a:pPr marL="285750" indent="-285750">
              <a:buFont typeface="Wingdings" panose="05000000000000000000" pitchFamily="2" charset="2"/>
              <a:buChar char="u"/>
            </a:pPr>
            <a:r>
              <a:rPr lang="zh-CN" altLang="en-US" dirty="0">
                <a:ea typeface="+mn-lt"/>
                <a:cs typeface="+mn-lt"/>
              </a:rPr>
              <a:t>公司聚焦系统级（</a:t>
            </a:r>
            <a:r>
              <a:rPr lang="en-US" altLang="zh-CN" dirty="0">
                <a:ea typeface="+mn-lt"/>
                <a:cs typeface="+mn-lt"/>
              </a:rPr>
              <a:t>SoC</a:t>
            </a:r>
            <a:r>
              <a:rPr lang="zh-CN" altLang="en-US" dirty="0">
                <a:ea typeface="+mn-lt"/>
                <a:cs typeface="+mn-lt"/>
              </a:rPr>
              <a:t>）芯片的一站式定制服务，定制芯片包括系统主控芯片、光通信芯片、</a:t>
            </a:r>
            <a:r>
              <a:rPr lang="en-US" altLang="zh-CN" dirty="0">
                <a:ea typeface="+mn-lt"/>
                <a:cs typeface="+mn-lt"/>
              </a:rPr>
              <a:t>5G</a:t>
            </a:r>
            <a:r>
              <a:rPr lang="zh-CN" altLang="en-US" dirty="0">
                <a:ea typeface="+mn-lt"/>
                <a:cs typeface="+mn-lt"/>
              </a:rPr>
              <a:t>基带芯片、网络交换机芯片、</a:t>
            </a:r>
            <a:r>
              <a:rPr lang="en-US" altLang="zh-CN" dirty="0">
                <a:ea typeface="+mn-lt"/>
                <a:cs typeface="+mn-lt"/>
              </a:rPr>
              <a:t>FPGA</a:t>
            </a:r>
            <a:r>
              <a:rPr lang="zh-CN" altLang="en-US" dirty="0">
                <a:ea typeface="+mn-lt"/>
                <a:cs typeface="+mn-lt"/>
              </a:rPr>
              <a:t>芯片、无线射频芯片等关键芯片，上述产品被广泛应用于消费电子、工业控制、物联网、网络通信、汽车电子等众多高技术产业领域中。</a:t>
            </a:r>
            <a:endParaRPr lang="zh-CN" altLang="en-US" dirty="0">
              <a:ea typeface="+mn-lt"/>
              <a:cs typeface="+mn-lt"/>
            </a:endParaRPr>
          </a:p>
        </p:txBody>
      </p:sp>
      <p:pic>
        <p:nvPicPr>
          <p:cNvPr id="6" name="图片 5"/>
          <p:cNvPicPr>
            <a:picLocks noChangeAspect="1"/>
          </p:cNvPicPr>
          <p:nvPr/>
        </p:nvPicPr>
        <p:blipFill>
          <a:blip r:embed="rId1"/>
          <a:stretch>
            <a:fillRect/>
          </a:stretch>
        </p:blipFill>
        <p:spPr>
          <a:xfrm>
            <a:off x="595707" y="2150659"/>
            <a:ext cx="5337652" cy="4214294"/>
          </a:xfrm>
          <a:prstGeom prst="rect">
            <a:avLst/>
          </a:prstGeom>
        </p:spPr>
      </p:pic>
      <p:sp>
        <p:nvSpPr>
          <p:cNvPr id="7" name="文本框 6"/>
          <p:cNvSpPr txBox="1"/>
          <p:nvPr/>
        </p:nvSpPr>
        <p:spPr>
          <a:xfrm>
            <a:off x="1200508" y="1747389"/>
            <a:ext cx="4128053" cy="338554"/>
          </a:xfrm>
          <a:prstGeom prst="rect">
            <a:avLst/>
          </a:prstGeom>
          <a:noFill/>
        </p:spPr>
        <p:txBody>
          <a:bodyPr wrap="none" rtlCol="0">
            <a:spAutoFit/>
          </a:bodyPr>
          <a:lstStyle/>
          <a:p>
            <a:pPr algn="ctr"/>
            <a:r>
              <a:rPr lang="zh-CN" altLang="en-US" sz="1600" b="1" dirty="0"/>
              <a:t>公司</a:t>
            </a:r>
            <a:r>
              <a:rPr lang="en-US" altLang="zh-CN" sz="1600" b="1" dirty="0"/>
              <a:t>2025</a:t>
            </a:r>
            <a:r>
              <a:rPr lang="zh-CN" altLang="en-US" sz="1600" b="1" dirty="0"/>
              <a:t>年上半年营收构成（按下游应用）</a:t>
            </a:r>
            <a:endParaRPr lang="zh-CN" altLang="en-US" sz="1600" b="1" dirty="0"/>
          </a:p>
        </p:txBody>
      </p:sp>
      <p:pic>
        <p:nvPicPr>
          <p:cNvPr id="8" name="图片 7"/>
          <p:cNvPicPr>
            <a:picLocks noChangeAspect="1"/>
          </p:cNvPicPr>
          <p:nvPr/>
        </p:nvPicPr>
        <p:blipFill>
          <a:blip r:embed="rId2"/>
          <a:srcRect l="4278" t="751" r="9872" b="5957"/>
          <a:stretch>
            <a:fillRect/>
          </a:stretch>
        </p:blipFill>
        <p:spPr>
          <a:xfrm>
            <a:off x="6800225" y="2150659"/>
            <a:ext cx="4281533" cy="3831160"/>
          </a:xfrm>
          <a:prstGeom prst="rect">
            <a:avLst/>
          </a:prstGeom>
        </p:spPr>
      </p:pic>
      <p:sp>
        <p:nvSpPr>
          <p:cNvPr id="9" name="文本框 8"/>
          <p:cNvSpPr txBox="1"/>
          <p:nvPr/>
        </p:nvSpPr>
        <p:spPr>
          <a:xfrm>
            <a:off x="6863438" y="1747389"/>
            <a:ext cx="4128054" cy="338554"/>
          </a:xfrm>
          <a:prstGeom prst="rect">
            <a:avLst/>
          </a:prstGeom>
          <a:noFill/>
        </p:spPr>
        <p:txBody>
          <a:bodyPr wrap="none" rtlCol="0">
            <a:spAutoFit/>
          </a:bodyPr>
          <a:lstStyle/>
          <a:p>
            <a:pPr algn="ctr"/>
            <a:r>
              <a:rPr lang="zh-CN" altLang="en-US" sz="1600" b="1" dirty="0"/>
              <a:t>公司</a:t>
            </a:r>
            <a:r>
              <a:rPr lang="en-US" altLang="zh-CN" sz="1600" b="1" dirty="0"/>
              <a:t>2025</a:t>
            </a:r>
            <a:r>
              <a:rPr lang="zh-CN" altLang="en-US" sz="1600" b="1" dirty="0"/>
              <a:t>年上半年营收构成（按客户类型）</a:t>
            </a:r>
            <a:endParaRPr lang="zh-CN" altLang="en-US" sz="1600" b="1" dirty="0"/>
          </a:p>
        </p:txBody>
      </p:sp>
      <p:sp>
        <p:nvSpPr>
          <p:cNvPr id="10" name="文本框 9"/>
          <p:cNvSpPr txBox="1"/>
          <p:nvPr/>
        </p:nvSpPr>
        <p:spPr>
          <a:xfrm>
            <a:off x="5591176" y="6431683"/>
            <a:ext cx="6369916" cy="307777"/>
          </a:xfrm>
          <a:prstGeom prst="rect">
            <a:avLst/>
          </a:prstGeom>
          <a:noFill/>
        </p:spPr>
        <p:txBody>
          <a:bodyPr wrap="square">
            <a:spAutoFit/>
          </a:bodyPr>
          <a:lstStyle/>
          <a:p>
            <a:pPr algn="r"/>
            <a:r>
              <a:rPr lang="zh-CN" altLang="en-US" sz="1400" dirty="0">
                <a:latin typeface="宋体" panose="02010600030101010101" pitchFamily="2" charset="-122"/>
                <a:ea typeface="宋体" panose="02010600030101010101" pitchFamily="2" charset="-122"/>
              </a:rPr>
              <a:t>资料来源：</a:t>
            </a:r>
            <a:r>
              <a:rPr lang="zh-CN" altLang="en-US" sz="1400" dirty="0">
                <a:latin typeface="宋体" panose="02010600030101010101" pitchFamily="2" charset="-122"/>
                <a:ea typeface="宋体" panose="02010600030101010101" pitchFamily="2" charset="-122"/>
                <a:cs typeface="Times New Roman" panose="02020603050405020304" pitchFamily="18" charset="0"/>
              </a:rPr>
              <a:t>灿芯股份 </a:t>
            </a:r>
            <a:r>
              <a:rPr lang="en-US" altLang="zh-CN" sz="1400" dirty="0">
                <a:latin typeface="宋体" panose="02010600030101010101" pitchFamily="2" charset="-122"/>
                <a:ea typeface="宋体" panose="02010600030101010101" pitchFamily="2" charset="-122"/>
                <a:cs typeface="Times New Roman" panose="02020603050405020304" pitchFamily="18" charset="0"/>
              </a:rPr>
              <a:t>2025</a:t>
            </a:r>
            <a:r>
              <a:rPr lang="zh-CN" altLang="en-US" sz="1400" dirty="0">
                <a:latin typeface="宋体" panose="02010600030101010101" pitchFamily="2" charset="-122"/>
                <a:ea typeface="宋体" panose="02010600030101010101" pitchFamily="2" charset="-122"/>
                <a:cs typeface="Times New Roman" panose="02020603050405020304" pitchFamily="18" charset="0"/>
              </a:rPr>
              <a:t>半年报</a:t>
            </a:r>
            <a:endParaRPr lang="zh-CN" altLang="en-US" sz="1400" dirty="0">
              <a:latin typeface="宋体" panose="02010600030101010101" pitchFamily="2" charset="-122"/>
              <a:ea typeface="宋体" panose="02010600030101010101" pitchFamily="2" charset="-122"/>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flipH="1">
            <a:off x="224084" y="159798"/>
            <a:ext cx="7285366" cy="369332"/>
          </a:xfrm>
          <a:prstGeom prst="rect">
            <a:avLst/>
          </a:prstGeom>
          <a:noFill/>
        </p:spPr>
        <p:txBody>
          <a:bodyPr wrap="square" rtlCol="0">
            <a:spAutoFit/>
          </a:bodyPr>
          <a:lstStyle/>
          <a:p>
            <a:r>
              <a:rPr lang="zh-CN" altLang="en-US" b="1" dirty="0">
                <a:latin typeface="宋体" panose="02010600030101010101" pitchFamily="2" charset="-122"/>
                <a:ea typeface="宋体" panose="02010600030101010101" pitchFamily="2" charset="-122"/>
              </a:rPr>
              <a:t>灿芯股份投资价值分析</a:t>
            </a:r>
            <a:endParaRPr lang="zh-CN" altLang="en-US" b="1" dirty="0">
              <a:latin typeface="宋体" panose="02010600030101010101" pitchFamily="2" charset="-122"/>
              <a:ea typeface="宋体" panose="02010600030101010101" pitchFamily="2" charset="-122"/>
            </a:endParaRPr>
          </a:p>
        </p:txBody>
      </p:sp>
      <p:sp>
        <p:nvSpPr>
          <p:cNvPr id="14" name="文本框 13"/>
          <p:cNvSpPr txBox="1"/>
          <p:nvPr/>
        </p:nvSpPr>
        <p:spPr>
          <a:xfrm>
            <a:off x="224085" y="593846"/>
            <a:ext cx="11648496" cy="923330"/>
          </a:xfrm>
          <a:prstGeom prst="rect">
            <a:avLst/>
          </a:prstGeom>
          <a:noFill/>
        </p:spPr>
        <p:txBody>
          <a:bodyPr wrap="square">
            <a:spAutoFit/>
          </a:bodyPr>
          <a:lstStyle/>
          <a:p>
            <a:pPr marL="285750" indent="-285750">
              <a:buFont typeface="Wingdings" panose="05000000000000000000" pitchFamily="2" charset="2"/>
              <a:buChar char="u"/>
            </a:pPr>
            <a:r>
              <a:rPr lang="zh-CN" altLang="en-US" dirty="0">
                <a:ea typeface="+mn-lt"/>
                <a:cs typeface="+mn-lt"/>
              </a:rPr>
              <a:t>公司脱胎于中芯国际芯片设计服务部门，目前处于无实控人状态，中芯国际全资子公司“中芯控股” 持有灿芯</a:t>
            </a:r>
            <a:r>
              <a:rPr lang="en-US" altLang="zh-CN" dirty="0">
                <a:ea typeface="+mn-lt"/>
                <a:cs typeface="+mn-lt"/>
              </a:rPr>
              <a:t>14.23%</a:t>
            </a:r>
            <a:r>
              <a:rPr lang="zh-CN" altLang="en-US" dirty="0">
                <a:ea typeface="+mn-lt"/>
                <a:cs typeface="+mn-lt"/>
              </a:rPr>
              <a:t>股份，为当前第二大股东（单一第一大，董事长兼总经理庄志青及一致行动人持股</a:t>
            </a:r>
            <a:r>
              <a:rPr lang="en-US" altLang="zh-CN" dirty="0">
                <a:ea typeface="+mn-lt"/>
                <a:cs typeface="+mn-lt"/>
              </a:rPr>
              <a:t>14.87%</a:t>
            </a:r>
            <a:r>
              <a:rPr lang="zh-CN" altLang="en-US" dirty="0">
                <a:ea typeface="+mn-lt"/>
                <a:cs typeface="+mn-lt"/>
              </a:rPr>
              <a:t>）。公司上市时的董事长由中芯国际时任联合</a:t>
            </a:r>
            <a:r>
              <a:rPr lang="en-US" altLang="zh-CN" dirty="0">
                <a:ea typeface="+mn-lt"/>
                <a:cs typeface="+mn-lt"/>
              </a:rPr>
              <a:t>CEO</a:t>
            </a:r>
            <a:r>
              <a:rPr lang="zh-CN" altLang="en-US" dirty="0">
                <a:ea typeface="+mn-lt"/>
                <a:cs typeface="+mn-lt"/>
              </a:rPr>
              <a:t>兼任（业内说法灿芯内部有较多中芯国际高管暗股，利益绑定度较高）。</a:t>
            </a:r>
            <a:endParaRPr lang="zh-CN" altLang="en-US" dirty="0">
              <a:ea typeface="+mn-lt"/>
              <a:cs typeface="+mn-lt"/>
            </a:endParaRPr>
          </a:p>
        </p:txBody>
      </p:sp>
      <p:sp>
        <p:nvSpPr>
          <p:cNvPr id="9" name="文本框 8"/>
          <p:cNvSpPr txBox="1"/>
          <p:nvPr/>
        </p:nvSpPr>
        <p:spPr>
          <a:xfrm>
            <a:off x="3757059" y="1541166"/>
            <a:ext cx="4677884" cy="338554"/>
          </a:xfrm>
          <a:prstGeom prst="rect">
            <a:avLst/>
          </a:prstGeom>
          <a:noFill/>
        </p:spPr>
        <p:txBody>
          <a:bodyPr wrap="none" rtlCol="0">
            <a:spAutoFit/>
          </a:bodyPr>
          <a:lstStyle/>
          <a:p>
            <a:pPr algn="ctr"/>
            <a:r>
              <a:rPr lang="zh-CN" altLang="en-US" sz="1600" b="1" dirty="0"/>
              <a:t>公司上市时的董事长由时任中芯国际联合</a:t>
            </a:r>
            <a:r>
              <a:rPr lang="en-US" altLang="zh-CN" sz="1600" b="1" dirty="0"/>
              <a:t>CEO</a:t>
            </a:r>
            <a:r>
              <a:rPr lang="zh-CN" altLang="en-US" sz="1600" b="1" dirty="0"/>
              <a:t>兼任</a:t>
            </a:r>
            <a:endParaRPr lang="zh-CN" altLang="en-US" sz="1600" b="1" dirty="0"/>
          </a:p>
        </p:txBody>
      </p:sp>
      <p:pic>
        <p:nvPicPr>
          <p:cNvPr id="6" name="图片 5"/>
          <p:cNvPicPr>
            <a:picLocks noChangeAspect="1"/>
          </p:cNvPicPr>
          <p:nvPr/>
        </p:nvPicPr>
        <p:blipFill>
          <a:blip r:embed="rId1"/>
          <a:stretch>
            <a:fillRect/>
          </a:stretch>
        </p:blipFill>
        <p:spPr>
          <a:xfrm>
            <a:off x="2289137" y="1969737"/>
            <a:ext cx="7613725" cy="4427076"/>
          </a:xfrm>
          <a:prstGeom prst="rect">
            <a:avLst/>
          </a:prstGeom>
          <a:ln>
            <a:solidFill>
              <a:schemeClr val="accent1"/>
            </a:solidFill>
          </a:ln>
        </p:spPr>
      </p:pic>
      <p:sp>
        <p:nvSpPr>
          <p:cNvPr id="7" name="文本框 6"/>
          <p:cNvSpPr txBox="1"/>
          <p:nvPr/>
        </p:nvSpPr>
        <p:spPr>
          <a:xfrm>
            <a:off x="5591176" y="6483801"/>
            <a:ext cx="6369916" cy="307777"/>
          </a:xfrm>
          <a:prstGeom prst="rect">
            <a:avLst/>
          </a:prstGeom>
          <a:noFill/>
        </p:spPr>
        <p:txBody>
          <a:bodyPr wrap="square">
            <a:spAutoFit/>
          </a:bodyPr>
          <a:lstStyle/>
          <a:p>
            <a:pPr algn="r"/>
            <a:r>
              <a:rPr lang="zh-CN" altLang="en-US" sz="1400" dirty="0">
                <a:latin typeface="宋体" panose="02010600030101010101" pitchFamily="2" charset="-122"/>
                <a:ea typeface="宋体" panose="02010600030101010101" pitchFamily="2" charset="-122"/>
              </a:rPr>
              <a:t>资料来源：</a:t>
            </a:r>
            <a:r>
              <a:rPr lang="zh-CN" altLang="en-US" sz="1400" dirty="0">
                <a:latin typeface="宋体" panose="02010600030101010101" pitchFamily="2" charset="-122"/>
                <a:ea typeface="宋体" panose="02010600030101010101" pitchFamily="2" charset="-122"/>
                <a:cs typeface="Times New Roman" panose="02020603050405020304" pitchFamily="18" charset="0"/>
              </a:rPr>
              <a:t>灿芯股份 招股说明书</a:t>
            </a:r>
            <a:endParaRPr lang="zh-CN" altLang="en-US" sz="1400" dirty="0">
              <a:latin typeface="宋体" panose="02010600030101010101" pitchFamily="2" charset="-122"/>
              <a:ea typeface="宋体" panose="02010600030101010101" pitchFamily="2" charset="-122"/>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flipH="1">
            <a:off x="224084" y="159798"/>
            <a:ext cx="7285366" cy="369332"/>
          </a:xfrm>
          <a:prstGeom prst="rect">
            <a:avLst/>
          </a:prstGeom>
          <a:noFill/>
        </p:spPr>
        <p:txBody>
          <a:bodyPr wrap="square" rtlCol="0">
            <a:spAutoFit/>
          </a:bodyPr>
          <a:lstStyle/>
          <a:p>
            <a:r>
              <a:rPr lang="zh-CN" altLang="en-US" b="1" dirty="0">
                <a:latin typeface="宋体" panose="02010600030101010101" pitchFamily="2" charset="-122"/>
                <a:ea typeface="宋体" panose="02010600030101010101" pitchFamily="2" charset="-122"/>
              </a:rPr>
              <a:t>灿芯股份投资价值分析</a:t>
            </a:r>
            <a:endParaRPr lang="zh-CN" altLang="en-US" b="1" dirty="0">
              <a:latin typeface="宋体" panose="02010600030101010101" pitchFamily="2" charset="-122"/>
              <a:ea typeface="宋体" panose="02010600030101010101" pitchFamily="2" charset="-122"/>
            </a:endParaRPr>
          </a:p>
        </p:txBody>
      </p:sp>
      <p:sp>
        <p:nvSpPr>
          <p:cNvPr id="14" name="文本框 13"/>
          <p:cNvSpPr txBox="1"/>
          <p:nvPr/>
        </p:nvSpPr>
        <p:spPr>
          <a:xfrm>
            <a:off x="224084" y="593846"/>
            <a:ext cx="11648496" cy="646331"/>
          </a:xfrm>
          <a:prstGeom prst="rect">
            <a:avLst/>
          </a:prstGeom>
          <a:noFill/>
        </p:spPr>
        <p:txBody>
          <a:bodyPr wrap="square">
            <a:spAutoFit/>
          </a:bodyPr>
          <a:lstStyle/>
          <a:p>
            <a:pPr marL="285750" indent="-285750">
              <a:buFont typeface="Wingdings" panose="05000000000000000000" pitchFamily="2" charset="2"/>
              <a:buChar char="u"/>
            </a:pPr>
            <a:r>
              <a:rPr lang="zh-CN" altLang="en-US" dirty="0">
                <a:ea typeface="+mn-lt"/>
                <a:cs typeface="+mn-lt"/>
              </a:rPr>
              <a:t>公司已帮助大量不同技术禀赋与需求的客户在在中芯国际多种制程工艺上高效、低风险地实现芯片定制及量产，同时在此过程中公司也帮助中芯国际不断提升工艺良率与工艺适用范围。</a:t>
            </a:r>
            <a:endParaRPr lang="zh-CN" altLang="en-US" dirty="0">
              <a:ea typeface="+mn-lt"/>
              <a:cs typeface="+mn-lt"/>
            </a:endParaRPr>
          </a:p>
        </p:txBody>
      </p:sp>
      <p:sp>
        <p:nvSpPr>
          <p:cNvPr id="9" name="文本框 8"/>
          <p:cNvSpPr txBox="1"/>
          <p:nvPr/>
        </p:nvSpPr>
        <p:spPr>
          <a:xfrm>
            <a:off x="2806469" y="1342172"/>
            <a:ext cx="3592650" cy="338554"/>
          </a:xfrm>
          <a:prstGeom prst="rect">
            <a:avLst/>
          </a:prstGeom>
          <a:noFill/>
        </p:spPr>
        <p:txBody>
          <a:bodyPr wrap="none" rtlCol="0">
            <a:spAutoFit/>
          </a:bodyPr>
          <a:lstStyle/>
          <a:p>
            <a:pPr algn="ctr"/>
            <a:r>
              <a:rPr lang="zh-CN" altLang="en-US" sz="1600" b="1" dirty="0"/>
              <a:t>中芯国际在公司的采购额占比</a:t>
            </a:r>
            <a:r>
              <a:rPr lang="en-US" altLang="zh-CN" sz="1600" b="1" dirty="0"/>
              <a:t>60%</a:t>
            </a:r>
            <a:r>
              <a:rPr lang="zh-CN" altLang="en-US" sz="1600" b="1" dirty="0"/>
              <a:t>以上</a:t>
            </a:r>
            <a:endParaRPr lang="zh-CN" altLang="en-US" sz="1600" b="1" dirty="0"/>
          </a:p>
        </p:txBody>
      </p:sp>
      <p:pic>
        <p:nvPicPr>
          <p:cNvPr id="12" name="图片 11"/>
          <p:cNvPicPr>
            <a:picLocks noChangeAspect="1"/>
          </p:cNvPicPr>
          <p:nvPr/>
        </p:nvPicPr>
        <p:blipFill>
          <a:blip r:embed="rId1"/>
          <a:stretch>
            <a:fillRect/>
          </a:stretch>
        </p:blipFill>
        <p:spPr>
          <a:xfrm>
            <a:off x="369547" y="1782721"/>
            <a:ext cx="8466492" cy="4727805"/>
          </a:xfrm>
          <a:prstGeom prst="rect">
            <a:avLst/>
          </a:prstGeom>
        </p:spPr>
      </p:pic>
      <p:pic>
        <p:nvPicPr>
          <p:cNvPr id="4" name="图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934708" y="2804791"/>
            <a:ext cx="2999869" cy="2348469"/>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flipH="1">
            <a:off x="224084" y="159798"/>
            <a:ext cx="7285366" cy="369332"/>
          </a:xfrm>
          <a:prstGeom prst="rect">
            <a:avLst/>
          </a:prstGeom>
          <a:noFill/>
        </p:spPr>
        <p:txBody>
          <a:bodyPr wrap="square" rtlCol="0">
            <a:spAutoFit/>
          </a:bodyPr>
          <a:lstStyle/>
          <a:p>
            <a:r>
              <a:rPr lang="zh-CN" altLang="en-US" b="1" dirty="0">
                <a:latin typeface="宋体" panose="02010600030101010101" pitchFamily="2" charset="-122"/>
                <a:ea typeface="宋体" panose="02010600030101010101" pitchFamily="2" charset="-122"/>
              </a:rPr>
              <a:t>灿芯股份投资价值分析</a:t>
            </a:r>
            <a:endParaRPr lang="zh-CN" altLang="en-US" b="1" dirty="0">
              <a:latin typeface="宋体" panose="02010600030101010101" pitchFamily="2" charset="-122"/>
              <a:ea typeface="宋体" panose="02010600030101010101" pitchFamily="2" charset="-122"/>
            </a:endParaRPr>
          </a:p>
        </p:txBody>
      </p:sp>
      <p:sp>
        <p:nvSpPr>
          <p:cNvPr id="5" name="文本框 4"/>
          <p:cNvSpPr txBox="1"/>
          <p:nvPr/>
        </p:nvSpPr>
        <p:spPr>
          <a:xfrm>
            <a:off x="4128956" y="647855"/>
            <a:ext cx="3934089" cy="338554"/>
          </a:xfrm>
          <a:prstGeom prst="rect">
            <a:avLst/>
          </a:prstGeom>
          <a:noFill/>
        </p:spPr>
        <p:txBody>
          <a:bodyPr wrap="none" rtlCol="0">
            <a:spAutoFit/>
          </a:bodyPr>
          <a:lstStyle/>
          <a:p>
            <a:pPr algn="ctr"/>
            <a:r>
              <a:rPr lang="zh-CN" altLang="en-US" sz="1600" b="1" dirty="0"/>
              <a:t> 灿芯股份历年营收和归母净利润（亿元）</a:t>
            </a:r>
            <a:endParaRPr lang="zh-CN" altLang="en-US" sz="1600" b="1" dirty="0"/>
          </a:p>
        </p:txBody>
      </p:sp>
      <p:pic>
        <p:nvPicPr>
          <p:cNvPr id="6" name="图片 5"/>
          <p:cNvPicPr>
            <a:picLocks noChangeAspect="1"/>
          </p:cNvPicPr>
          <p:nvPr/>
        </p:nvPicPr>
        <p:blipFill>
          <a:blip r:embed="rId1"/>
          <a:stretch>
            <a:fillRect/>
          </a:stretch>
        </p:blipFill>
        <p:spPr>
          <a:xfrm>
            <a:off x="1228564" y="1045844"/>
            <a:ext cx="9734871" cy="5652358"/>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flipH="1">
            <a:off x="224084" y="159798"/>
            <a:ext cx="7285366" cy="369332"/>
          </a:xfrm>
          <a:prstGeom prst="rect">
            <a:avLst/>
          </a:prstGeom>
          <a:noFill/>
        </p:spPr>
        <p:txBody>
          <a:bodyPr wrap="square" rtlCol="0">
            <a:spAutoFit/>
          </a:bodyPr>
          <a:lstStyle/>
          <a:p>
            <a:r>
              <a:rPr lang="zh-CN" altLang="en-US" b="1" dirty="0">
                <a:latin typeface="宋体" panose="02010600030101010101" pitchFamily="2" charset="-122"/>
                <a:ea typeface="宋体" panose="02010600030101010101" pitchFamily="2" charset="-122"/>
              </a:rPr>
              <a:t>灿芯股份投资价值分析</a:t>
            </a:r>
            <a:endParaRPr lang="zh-CN" altLang="en-US" b="1" dirty="0">
              <a:latin typeface="宋体" panose="02010600030101010101" pitchFamily="2" charset="-122"/>
              <a:ea typeface="宋体" panose="02010600030101010101" pitchFamily="2" charset="-122"/>
            </a:endParaRPr>
          </a:p>
        </p:txBody>
      </p:sp>
      <p:pic>
        <p:nvPicPr>
          <p:cNvPr id="3" name="图片 2"/>
          <p:cNvPicPr>
            <a:picLocks noChangeAspect="1"/>
          </p:cNvPicPr>
          <p:nvPr/>
        </p:nvPicPr>
        <p:blipFill>
          <a:blip r:embed="rId1"/>
          <a:stretch>
            <a:fillRect/>
          </a:stretch>
        </p:blipFill>
        <p:spPr>
          <a:xfrm>
            <a:off x="89145" y="1580751"/>
            <a:ext cx="5965319" cy="5227503"/>
          </a:xfrm>
          <a:prstGeom prst="rect">
            <a:avLst/>
          </a:prstGeom>
        </p:spPr>
      </p:pic>
      <p:pic>
        <p:nvPicPr>
          <p:cNvPr id="4" name="图片 3"/>
          <p:cNvPicPr>
            <a:picLocks noChangeAspect="1"/>
          </p:cNvPicPr>
          <p:nvPr/>
        </p:nvPicPr>
        <p:blipFill>
          <a:blip r:embed="rId2"/>
          <a:stretch>
            <a:fillRect/>
          </a:stretch>
        </p:blipFill>
        <p:spPr>
          <a:xfrm>
            <a:off x="6172054" y="1580751"/>
            <a:ext cx="5930801" cy="5227503"/>
          </a:xfrm>
          <a:prstGeom prst="rect">
            <a:avLst/>
          </a:prstGeom>
        </p:spPr>
      </p:pic>
      <p:sp>
        <p:nvSpPr>
          <p:cNvPr id="5" name="文本框 4"/>
          <p:cNvSpPr txBox="1"/>
          <p:nvPr/>
        </p:nvSpPr>
        <p:spPr>
          <a:xfrm>
            <a:off x="1850957" y="1219257"/>
            <a:ext cx="2441694" cy="338554"/>
          </a:xfrm>
          <a:prstGeom prst="rect">
            <a:avLst/>
          </a:prstGeom>
          <a:noFill/>
        </p:spPr>
        <p:txBody>
          <a:bodyPr wrap="none" rtlCol="0">
            <a:spAutoFit/>
          </a:bodyPr>
          <a:lstStyle/>
          <a:p>
            <a:pPr algn="ctr"/>
            <a:r>
              <a:rPr lang="zh-CN" altLang="en-US" sz="1600" b="1" dirty="0"/>
              <a:t>分业务收入构成（亿元）</a:t>
            </a:r>
            <a:endParaRPr lang="zh-CN" altLang="en-US" sz="1600" b="1" dirty="0"/>
          </a:p>
        </p:txBody>
      </p:sp>
      <p:sp>
        <p:nvSpPr>
          <p:cNvPr id="6" name="文本框 5"/>
          <p:cNvSpPr txBox="1"/>
          <p:nvPr/>
        </p:nvSpPr>
        <p:spPr>
          <a:xfrm>
            <a:off x="8429568" y="1219257"/>
            <a:ext cx="1415772" cy="338554"/>
          </a:xfrm>
          <a:prstGeom prst="rect">
            <a:avLst/>
          </a:prstGeom>
          <a:noFill/>
        </p:spPr>
        <p:txBody>
          <a:bodyPr wrap="none" rtlCol="0">
            <a:spAutoFit/>
          </a:bodyPr>
          <a:lstStyle/>
          <a:p>
            <a:pPr algn="ctr"/>
            <a:r>
              <a:rPr lang="zh-CN" altLang="en-US" sz="1600" b="1" dirty="0"/>
              <a:t>分业务毛利率</a:t>
            </a:r>
            <a:endParaRPr lang="zh-CN" altLang="en-US" sz="1600" b="1" dirty="0"/>
          </a:p>
        </p:txBody>
      </p:sp>
      <p:sp>
        <p:nvSpPr>
          <p:cNvPr id="7" name="文本框 6"/>
          <p:cNvSpPr txBox="1"/>
          <p:nvPr/>
        </p:nvSpPr>
        <p:spPr>
          <a:xfrm>
            <a:off x="224085" y="593846"/>
            <a:ext cx="11648496" cy="369332"/>
          </a:xfrm>
          <a:prstGeom prst="rect">
            <a:avLst/>
          </a:prstGeom>
          <a:noFill/>
        </p:spPr>
        <p:txBody>
          <a:bodyPr wrap="square">
            <a:spAutoFit/>
          </a:bodyPr>
          <a:lstStyle/>
          <a:p>
            <a:pPr marL="285750" indent="-285750">
              <a:buFont typeface="Wingdings" panose="05000000000000000000" pitchFamily="2" charset="2"/>
              <a:buChar char="u"/>
            </a:pPr>
            <a:r>
              <a:rPr lang="en-US" altLang="zh-CN" dirty="0">
                <a:ea typeface="+mn-lt"/>
                <a:cs typeface="+mn-lt"/>
              </a:rPr>
              <a:t>24</a:t>
            </a:r>
            <a:r>
              <a:rPr lang="zh-CN" altLang="en-US" dirty="0">
                <a:ea typeface="+mn-lt"/>
                <a:cs typeface="+mn-lt"/>
              </a:rPr>
              <a:t>年和</a:t>
            </a:r>
            <a:r>
              <a:rPr lang="en-US" altLang="zh-CN" dirty="0">
                <a:ea typeface="+mn-lt"/>
                <a:cs typeface="+mn-lt"/>
              </a:rPr>
              <a:t>25</a:t>
            </a:r>
            <a:r>
              <a:rPr lang="zh-CN" altLang="en-US" dirty="0">
                <a:ea typeface="+mn-lt"/>
                <a:cs typeface="+mn-lt"/>
              </a:rPr>
              <a:t>年营收规模下降，主要是芯片量产业务下滑导致，芯片设计业务相对稳定。</a:t>
            </a:r>
            <a:endParaRPr lang="zh-CN" altLang="en-US" dirty="0">
              <a:ea typeface="+mn-lt"/>
              <a:cs typeface="+mn-lt"/>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flipH="1">
            <a:off x="224084" y="159798"/>
            <a:ext cx="7285366" cy="369332"/>
          </a:xfrm>
          <a:prstGeom prst="rect">
            <a:avLst/>
          </a:prstGeom>
          <a:noFill/>
        </p:spPr>
        <p:txBody>
          <a:bodyPr wrap="square" rtlCol="0">
            <a:spAutoFit/>
          </a:bodyPr>
          <a:lstStyle/>
          <a:p>
            <a:r>
              <a:rPr lang="zh-CN" altLang="en-US" b="1" dirty="0">
                <a:latin typeface="宋体" panose="02010600030101010101" pitchFamily="2" charset="-122"/>
                <a:ea typeface="宋体" panose="02010600030101010101" pitchFamily="2" charset="-122"/>
              </a:rPr>
              <a:t>灿芯股份投资价值分析</a:t>
            </a:r>
            <a:endParaRPr lang="zh-CN" altLang="en-US" b="1" dirty="0">
              <a:latin typeface="宋体" panose="02010600030101010101" pitchFamily="2" charset="-122"/>
              <a:ea typeface="宋体" panose="02010600030101010101" pitchFamily="2" charset="-122"/>
            </a:endParaRPr>
          </a:p>
        </p:txBody>
      </p:sp>
      <p:sp>
        <p:nvSpPr>
          <p:cNvPr id="14" name="文本框 13"/>
          <p:cNvSpPr txBox="1"/>
          <p:nvPr/>
        </p:nvSpPr>
        <p:spPr>
          <a:xfrm>
            <a:off x="224085" y="593846"/>
            <a:ext cx="11648496" cy="1200329"/>
          </a:xfrm>
          <a:prstGeom prst="rect">
            <a:avLst/>
          </a:prstGeom>
          <a:noFill/>
        </p:spPr>
        <p:txBody>
          <a:bodyPr wrap="square">
            <a:spAutoFit/>
          </a:bodyPr>
          <a:lstStyle/>
          <a:p>
            <a:pPr marL="285750" indent="-285750">
              <a:buFont typeface="Wingdings" panose="05000000000000000000" pitchFamily="2" charset="2"/>
              <a:buChar char="u"/>
            </a:pPr>
            <a:r>
              <a:rPr lang="zh-CN" altLang="en-US" dirty="0">
                <a:ea typeface="+mn-lt"/>
                <a:cs typeface="+mn-lt"/>
              </a:rPr>
              <a:t>根据公司公告，截至</a:t>
            </a:r>
            <a:r>
              <a:rPr lang="en-US" altLang="zh-CN" dirty="0">
                <a:ea typeface="+mn-lt"/>
                <a:cs typeface="+mn-lt"/>
              </a:rPr>
              <a:t>25</a:t>
            </a:r>
            <a:r>
              <a:rPr lang="zh-CN" altLang="en-US" dirty="0">
                <a:ea typeface="+mn-lt"/>
                <a:cs typeface="+mn-lt"/>
              </a:rPr>
              <a:t>年</a:t>
            </a:r>
            <a:r>
              <a:rPr lang="en-US" altLang="zh-CN" dirty="0">
                <a:ea typeface="+mn-lt"/>
                <a:cs typeface="+mn-lt"/>
              </a:rPr>
              <a:t>9</a:t>
            </a:r>
            <a:r>
              <a:rPr lang="zh-CN" altLang="en-US" dirty="0">
                <a:ea typeface="+mn-lt"/>
                <a:cs typeface="+mn-lt"/>
              </a:rPr>
              <a:t>月</a:t>
            </a:r>
            <a:r>
              <a:rPr lang="en-US" altLang="zh-CN" dirty="0">
                <a:ea typeface="+mn-lt"/>
                <a:cs typeface="+mn-lt"/>
              </a:rPr>
              <a:t>30</a:t>
            </a:r>
            <a:r>
              <a:rPr lang="zh-CN" altLang="en-US" dirty="0">
                <a:ea typeface="+mn-lt"/>
                <a:cs typeface="+mn-lt"/>
              </a:rPr>
              <a:t>日在手订单</a:t>
            </a:r>
            <a:r>
              <a:rPr lang="en-US" altLang="zh-CN" dirty="0">
                <a:ea typeface="+mn-lt"/>
                <a:cs typeface="+mn-lt"/>
              </a:rPr>
              <a:t>8.72</a:t>
            </a:r>
            <a:r>
              <a:rPr lang="zh-CN" altLang="en-US" dirty="0">
                <a:ea typeface="+mn-lt"/>
                <a:cs typeface="+mn-lt"/>
              </a:rPr>
              <a:t>亿元，其中芯片设计</a:t>
            </a:r>
            <a:r>
              <a:rPr lang="en-US" altLang="zh-CN" dirty="0">
                <a:ea typeface="+mn-lt"/>
                <a:cs typeface="+mn-lt"/>
              </a:rPr>
              <a:t>2.89</a:t>
            </a:r>
            <a:r>
              <a:rPr lang="zh-CN" altLang="en-US" dirty="0">
                <a:ea typeface="+mn-lt"/>
                <a:cs typeface="+mn-lt"/>
              </a:rPr>
              <a:t>亿元、量产业务</a:t>
            </a:r>
            <a:r>
              <a:rPr lang="en-US" altLang="zh-CN" dirty="0">
                <a:ea typeface="+mn-lt"/>
                <a:cs typeface="+mn-lt"/>
              </a:rPr>
              <a:t>5.82</a:t>
            </a:r>
            <a:r>
              <a:rPr lang="zh-CN" altLang="en-US" dirty="0">
                <a:ea typeface="+mn-lt"/>
                <a:cs typeface="+mn-lt"/>
              </a:rPr>
              <a:t>亿元，为后续收入提供可见度。</a:t>
            </a:r>
            <a:endParaRPr lang="en-US" altLang="zh-CN" dirty="0">
              <a:ea typeface="+mn-lt"/>
              <a:cs typeface="+mn-lt"/>
            </a:endParaRPr>
          </a:p>
          <a:p>
            <a:pPr marL="285750" indent="-285750">
              <a:buFont typeface="Wingdings" panose="05000000000000000000" pitchFamily="2" charset="2"/>
              <a:buChar char="u"/>
            </a:pPr>
            <a:r>
              <a:rPr lang="zh-CN" altLang="en-US" dirty="0">
                <a:ea typeface="+mn-lt"/>
                <a:cs typeface="+mn-lt"/>
              </a:rPr>
              <a:t>另根据投资者关系活动记录表，公司</a:t>
            </a:r>
            <a:r>
              <a:rPr lang="en-US" altLang="zh-CN" dirty="0">
                <a:ea typeface="+mn-lt"/>
                <a:cs typeface="+mn-lt"/>
              </a:rPr>
              <a:t>2025</a:t>
            </a:r>
            <a:r>
              <a:rPr lang="zh-CN" altLang="en-US" dirty="0">
                <a:ea typeface="+mn-lt"/>
                <a:cs typeface="+mn-lt"/>
              </a:rPr>
              <a:t>年第三季度芯片设计业务营收</a:t>
            </a:r>
            <a:r>
              <a:rPr lang="en-US" altLang="zh-CN" dirty="0">
                <a:ea typeface="+mn-lt"/>
                <a:cs typeface="+mn-lt"/>
              </a:rPr>
              <a:t>0.97</a:t>
            </a:r>
            <a:r>
              <a:rPr lang="zh-CN" altLang="en-US" dirty="0">
                <a:ea typeface="+mn-lt"/>
                <a:cs typeface="+mn-lt"/>
              </a:rPr>
              <a:t>亿元，环比增长</a:t>
            </a:r>
            <a:r>
              <a:rPr lang="en-US" altLang="zh-CN" dirty="0">
                <a:ea typeface="+mn-lt"/>
                <a:cs typeface="+mn-lt"/>
              </a:rPr>
              <a:t>49.44%</a:t>
            </a:r>
            <a:r>
              <a:rPr lang="zh-CN" altLang="en-US" dirty="0">
                <a:ea typeface="+mn-lt"/>
                <a:cs typeface="+mn-lt"/>
              </a:rPr>
              <a:t>；量产业务营收</a:t>
            </a:r>
            <a:r>
              <a:rPr lang="en-US" altLang="zh-CN" dirty="0">
                <a:ea typeface="+mn-lt"/>
                <a:cs typeface="+mn-lt"/>
              </a:rPr>
              <a:t>0.89</a:t>
            </a:r>
            <a:r>
              <a:rPr lang="zh-CN" altLang="en-US" dirty="0">
                <a:ea typeface="+mn-lt"/>
                <a:cs typeface="+mn-lt"/>
              </a:rPr>
              <a:t>亿元，环比增长</a:t>
            </a:r>
            <a:r>
              <a:rPr lang="en-US" altLang="zh-CN" dirty="0">
                <a:ea typeface="+mn-lt"/>
                <a:cs typeface="+mn-lt"/>
              </a:rPr>
              <a:t>14.23%</a:t>
            </a:r>
            <a:r>
              <a:rPr lang="zh-CN" altLang="en-US" dirty="0">
                <a:ea typeface="+mn-lt"/>
                <a:cs typeface="+mn-lt"/>
              </a:rPr>
              <a:t>，收入逐步出现边际改善。</a:t>
            </a:r>
            <a:endParaRPr lang="zh-CN" altLang="en-US" dirty="0">
              <a:ea typeface="+mn-lt"/>
              <a:cs typeface="+mn-lt"/>
            </a:endParaRPr>
          </a:p>
        </p:txBody>
      </p:sp>
      <p:pic>
        <p:nvPicPr>
          <p:cNvPr id="5" name="图片 4"/>
          <p:cNvPicPr>
            <a:picLocks noChangeAspect="1"/>
          </p:cNvPicPr>
          <p:nvPr/>
        </p:nvPicPr>
        <p:blipFill>
          <a:blip r:embed="rId1"/>
          <a:stretch>
            <a:fillRect/>
          </a:stretch>
        </p:blipFill>
        <p:spPr>
          <a:xfrm>
            <a:off x="1808245" y="2211987"/>
            <a:ext cx="8575510" cy="4490045"/>
          </a:xfrm>
          <a:prstGeom prst="rect">
            <a:avLst/>
          </a:prstGeom>
        </p:spPr>
      </p:pic>
      <p:sp>
        <p:nvSpPr>
          <p:cNvPr id="6" name="文本框 5"/>
          <p:cNvSpPr txBox="1"/>
          <p:nvPr/>
        </p:nvSpPr>
        <p:spPr>
          <a:xfrm>
            <a:off x="4641915" y="1794175"/>
            <a:ext cx="2908168" cy="338554"/>
          </a:xfrm>
          <a:prstGeom prst="rect">
            <a:avLst/>
          </a:prstGeom>
          <a:noFill/>
        </p:spPr>
        <p:txBody>
          <a:bodyPr wrap="none" rtlCol="0">
            <a:spAutoFit/>
          </a:bodyPr>
          <a:lstStyle/>
          <a:p>
            <a:pPr algn="ctr"/>
            <a:r>
              <a:rPr lang="zh-CN" altLang="en-US" sz="1600" b="1" dirty="0"/>
              <a:t> 灿芯股份各季度营收（亿元）</a:t>
            </a:r>
            <a:endParaRPr lang="zh-CN" altLang="en-US" sz="1600" b="1" dirty="0"/>
          </a:p>
        </p:txBody>
      </p:sp>
      <p:sp>
        <p:nvSpPr>
          <p:cNvPr id="12" name="任意多边形: 形状 11"/>
          <p:cNvSpPr/>
          <p:nvPr/>
        </p:nvSpPr>
        <p:spPr>
          <a:xfrm>
            <a:off x="8603889" y="4354061"/>
            <a:ext cx="1288688" cy="491782"/>
          </a:xfrm>
          <a:custGeom>
            <a:avLst/>
            <a:gdLst>
              <a:gd name="connsiteX0" fmla="*/ 0 w 1255523"/>
              <a:gd name="connsiteY0" fmla="*/ 364812 h 382758"/>
              <a:gd name="connsiteX1" fmla="*/ 592227 w 1255523"/>
              <a:gd name="connsiteY1" fmla="*/ 341123 h 382758"/>
              <a:gd name="connsiteX2" fmla="*/ 1255523 w 1255523"/>
              <a:gd name="connsiteY2" fmla="*/ 0 h 382758"/>
              <a:gd name="connsiteX0-1" fmla="*/ 0 w 1288688"/>
              <a:gd name="connsiteY0-2" fmla="*/ 487995 h 490168"/>
              <a:gd name="connsiteX1-3" fmla="*/ 625392 w 1288688"/>
              <a:gd name="connsiteY1-4" fmla="*/ 341123 h 490168"/>
              <a:gd name="connsiteX2-5" fmla="*/ 1288688 w 1288688"/>
              <a:gd name="connsiteY2-6" fmla="*/ 0 h 490168"/>
              <a:gd name="connsiteX0-7" fmla="*/ 0 w 1288688"/>
              <a:gd name="connsiteY0-8" fmla="*/ 487995 h 491782"/>
              <a:gd name="connsiteX1-9" fmla="*/ 696459 w 1288688"/>
              <a:gd name="connsiteY1-10" fmla="*/ 393240 h 491782"/>
              <a:gd name="connsiteX2-11" fmla="*/ 1288688 w 1288688"/>
              <a:gd name="connsiteY2-12" fmla="*/ 0 h 491782"/>
            </a:gdLst>
            <a:ahLst/>
            <a:cxnLst>
              <a:cxn ang="0">
                <a:pos x="connsiteX0-1" y="connsiteY0-2"/>
              </a:cxn>
              <a:cxn ang="0">
                <a:pos x="connsiteX1-3" y="connsiteY1-4"/>
              </a:cxn>
              <a:cxn ang="0">
                <a:pos x="connsiteX2-5" y="connsiteY2-6"/>
              </a:cxn>
            </a:cxnLst>
            <a:rect l="l" t="t" r="r" b="b"/>
            <a:pathLst>
              <a:path w="1288688" h="491782">
                <a:moveTo>
                  <a:pt x="0" y="487995"/>
                </a:moveTo>
                <a:cubicBezTo>
                  <a:pt x="191486" y="506551"/>
                  <a:pt x="487205" y="454042"/>
                  <a:pt x="696459" y="393240"/>
                </a:cubicBezTo>
                <a:cubicBezTo>
                  <a:pt x="905713" y="332438"/>
                  <a:pt x="1066800" y="154769"/>
                  <a:pt x="1288688" y="0"/>
                </a:cubicBezTo>
              </a:path>
            </a:pathLst>
          </a:custGeom>
          <a:noFill/>
          <a:ln>
            <a:solidFill>
              <a:srgbClr val="C00000"/>
            </a:solidFill>
            <a:prstDash val="dash"/>
            <a:headEnd type="none" w="med" len="med"/>
            <a:tailEnd type="triangl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flipH="1">
            <a:off x="224084" y="159798"/>
            <a:ext cx="7285366" cy="369332"/>
          </a:xfrm>
          <a:prstGeom prst="rect">
            <a:avLst/>
          </a:prstGeom>
          <a:noFill/>
        </p:spPr>
        <p:txBody>
          <a:bodyPr wrap="square" rtlCol="0">
            <a:spAutoFit/>
          </a:bodyPr>
          <a:lstStyle/>
          <a:p>
            <a:r>
              <a:rPr lang="zh-CN" altLang="en-US" b="1" dirty="0">
                <a:latin typeface="宋体" panose="02010600030101010101" pitchFamily="2" charset="-122"/>
                <a:ea typeface="宋体" panose="02010600030101010101" pitchFamily="2" charset="-122"/>
              </a:rPr>
              <a:t>灿芯股份投资价值分析</a:t>
            </a:r>
            <a:endParaRPr lang="zh-CN" altLang="en-US" b="1" dirty="0">
              <a:latin typeface="宋体" panose="02010600030101010101" pitchFamily="2" charset="-122"/>
              <a:ea typeface="宋体" panose="02010600030101010101" pitchFamily="2" charset="-122"/>
            </a:endParaRPr>
          </a:p>
        </p:txBody>
      </p:sp>
      <p:sp>
        <p:nvSpPr>
          <p:cNvPr id="14" name="文本框 13"/>
          <p:cNvSpPr txBox="1"/>
          <p:nvPr/>
        </p:nvSpPr>
        <p:spPr>
          <a:xfrm>
            <a:off x="224085" y="593846"/>
            <a:ext cx="11648496" cy="923330"/>
          </a:xfrm>
          <a:prstGeom prst="rect">
            <a:avLst/>
          </a:prstGeom>
          <a:noFill/>
        </p:spPr>
        <p:txBody>
          <a:bodyPr wrap="square">
            <a:spAutoFit/>
          </a:bodyPr>
          <a:lstStyle/>
          <a:p>
            <a:pPr marL="285750" indent="-285750">
              <a:buFont typeface="Wingdings" panose="05000000000000000000" pitchFamily="2" charset="2"/>
              <a:buChar char="u"/>
            </a:pPr>
            <a:r>
              <a:rPr lang="zh-CN" altLang="en-US" dirty="0">
                <a:ea typeface="+mn-lt"/>
                <a:cs typeface="+mn-lt"/>
              </a:rPr>
              <a:t>据业内消息，中芯国际</a:t>
            </a:r>
            <a:r>
              <a:rPr lang="en-US" altLang="zh-CN" dirty="0">
                <a:ea typeface="+mn-lt"/>
                <a:cs typeface="+mn-lt"/>
              </a:rPr>
              <a:t>25</a:t>
            </a:r>
            <a:r>
              <a:rPr lang="zh-CN" altLang="en-US" dirty="0">
                <a:ea typeface="+mn-lt"/>
                <a:cs typeface="+mn-lt"/>
              </a:rPr>
              <a:t>年底通知客户将对部分产能实施涨价，涨幅约</a:t>
            </a:r>
            <a:r>
              <a:rPr lang="en-US" altLang="zh-CN" dirty="0">
                <a:ea typeface="+mn-lt"/>
                <a:cs typeface="+mn-lt"/>
              </a:rPr>
              <a:t>10%</a:t>
            </a:r>
            <a:r>
              <a:rPr lang="zh-CN" altLang="en-US" dirty="0">
                <a:ea typeface="+mn-lt"/>
                <a:cs typeface="+mn-lt"/>
              </a:rPr>
              <a:t>，其背后动因为代工产能紧张。</a:t>
            </a:r>
            <a:endParaRPr lang="en-US" altLang="zh-CN" dirty="0">
              <a:ea typeface="+mn-lt"/>
              <a:cs typeface="+mn-lt"/>
            </a:endParaRPr>
          </a:p>
          <a:p>
            <a:pPr marL="285750" indent="-285750">
              <a:buFont typeface="Wingdings" panose="05000000000000000000" pitchFamily="2" charset="2"/>
              <a:buChar char="u"/>
            </a:pPr>
            <a:r>
              <a:rPr lang="zh-CN" altLang="en-US" dirty="0">
                <a:ea typeface="+mn-lt"/>
                <a:cs typeface="+mn-lt"/>
              </a:rPr>
              <a:t>中芯国际此前发布的三季度报显示，公司的产能利用率从第二季度的</a:t>
            </a:r>
            <a:r>
              <a:rPr lang="en-US" altLang="zh-CN" dirty="0">
                <a:ea typeface="+mn-lt"/>
                <a:cs typeface="+mn-lt"/>
              </a:rPr>
              <a:t>92.5%</a:t>
            </a:r>
            <a:r>
              <a:rPr lang="zh-CN" altLang="en-US" dirty="0">
                <a:ea typeface="+mn-lt"/>
                <a:cs typeface="+mn-lt"/>
              </a:rPr>
              <a:t>进一步上升至</a:t>
            </a:r>
            <a:r>
              <a:rPr lang="en-US" altLang="zh-CN" dirty="0">
                <a:ea typeface="+mn-lt"/>
                <a:cs typeface="+mn-lt"/>
              </a:rPr>
              <a:t>95.8%</a:t>
            </a:r>
            <a:r>
              <a:rPr lang="zh-CN" altLang="en-US" dirty="0">
                <a:ea typeface="+mn-lt"/>
                <a:cs typeface="+mn-lt"/>
              </a:rPr>
              <a:t>。中芯国际的业务量上升以及产能紧张加剧，有利于灿芯股份芯片量产业务的收入提升。</a:t>
            </a:r>
            <a:endParaRPr lang="zh-CN" altLang="en-US" dirty="0">
              <a:ea typeface="+mn-lt"/>
              <a:cs typeface="+mn-lt"/>
            </a:endParaRPr>
          </a:p>
        </p:txBody>
      </p:sp>
      <p:pic>
        <p:nvPicPr>
          <p:cNvPr id="4" name="图片 3"/>
          <p:cNvPicPr>
            <a:picLocks noChangeAspect="1"/>
          </p:cNvPicPr>
          <p:nvPr/>
        </p:nvPicPr>
        <p:blipFill>
          <a:blip r:embed="rId1"/>
          <a:stretch>
            <a:fillRect/>
          </a:stretch>
        </p:blipFill>
        <p:spPr>
          <a:xfrm>
            <a:off x="2051442" y="1754843"/>
            <a:ext cx="7993782" cy="4837976"/>
          </a:xfrm>
          <a:prstGeom prst="rect">
            <a:avLst/>
          </a:prstGeom>
        </p:spPr>
      </p:pic>
      <p:sp>
        <p:nvSpPr>
          <p:cNvPr id="5" name="文本框 4"/>
          <p:cNvSpPr txBox="1"/>
          <p:nvPr/>
        </p:nvSpPr>
        <p:spPr>
          <a:xfrm>
            <a:off x="5123322" y="1678672"/>
            <a:ext cx="3283271" cy="338554"/>
          </a:xfrm>
          <a:prstGeom prst="rect">
            <a:avLst/>
          </a:prstGeom>
          <a:noFill/>
        </p:spPr>
        <p:txBody>
          <a:bodyPr wrap="none" rtlCol="0">
            <a:spAutoFit/>
          </a:bodyPr>
          <a:lstStyle/>
          <a:p>
            <a:pPr algn="ctr"/>
            <a:r>
              <a:rPr lang="zh-CN" altLang="en-US" sz="1600" b="1" dirty="0"/>
              <a:t> 中芯国际产能利用率</a:t>
            </a:r>
            <a:r>
              <a:rPr lang="en-US" altLang="zh-CN" sz="1600" b="1" dirty="0"/>
              <a:t>25Q3</a:t>
            </a:r>
            <a:r>
              <a:rPr lang="zh-CN" altLang="en-US" sz="1600" b="1" dirty="0"/>
              <a:t>达</a:t>
            </a:r>
            <a:r>
              <a:rPr lang="en-US" altLang="zh-CN" sz="1600" b="1" dirty="0"/>
              <a:t>95.8%</a:t>
            </a:r>
            <a:endParaRPr lang="zh-CN" altLang="en-US" sz="1600" b="1" dirty="0"/>
          </a:p>
        </p:txBody>
      </p:sp>
      <p:sp>
        <p:nvSpPr>
          <p:cNvPr id="6" name="文本框 5"/>
          <p:cNvSpPr txBox="1"/>
          <p:nvPr/>
        </p:nvSpPr>
        <p:spPr>
          <a:xfrm>
            <a:off x="5591176" y="6431683"/>
            <a:ext cx="6369916" cy="307777"/>
          </a:xfrm>
          <a:prstGeom prst="rect">
            <a:avLst/>
          </a:prstGeom>
          <a:noFill/>
        </p:spPr>
        <p:txBody>
          <a:bodyPr wrap="square">
            <a:spAutoFit/>
          </a:bodyPr>
          <a:lstStyle/>
          <a:p>
            <a:pPr algn="r"/>
            <a:r>
              <a:rPr lang="zh-CN" altLang="en-US" sz="1400" dirty="0">
                <a:latin typeface="宋体" panose="02010600030101010101" pitchFamily="2" charset="-122"/>
                <a:ea typeface="宋体" panose="02010600030101010101" pitchFamily="2" charset="-122"/>
              </a:rPr>
              <a:t>资料来源：</a:t>
            </a:r>
            <a:r>
              <a:rPr lang="zh-CN" altLang="en-US" sz="1400" dirty="0">
                <a:latin typeface="宋体" panose="02010600030101010101" pitchFamily="2" charset="-122"/>
                <a:ea typeface="宋体" panose="02010600030101010101" pitchFamily="2" charset="-122"/>
                <a:cs typeface="Times New Roman" panose="02020603050405020304" pitchFamily="18" charset="0"/>
              </a:rPr>
              <a:t>东方证券</a:t>
            </a:r>
            <a:endParaRPr lang="zh-CN" altLang="en-US" sz="1400" dirty="0">
              <a:latin typeface="宋体" panose="02010600030101010101" pitchFamily="2" charset="-122"/>
              <a:ea typeface="宋体" panose="02010600030101010101" pitchFamily="2" charset="-122"/>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flipH="1">
            <a:off x="224084" y="159798"/>
            <a:ext cx="7285366" cy="369332"/>
          </a:xfrm>
          <a:prstGeom prst="rect">
            <a:avLst/>
          </a:prstGeom>
          <a:noFill/>
        </p:spPr>
        <p:txBody>
          <a:bodyPr wrap="square" rtlCol="0">
            <a:spAutoFit/>
          </a:bodyPr>
          <a:lstStyle/>
          <a:p>
            <a:r>
              <a:rPr lang="zh-CN" altLang="en-US" b="1" dirty="0">
                <a:latin typeface="宋体" panose="02010600030101010101" pitchFamily="2" charset="-122"/>
                <a:ea typeface="宋体" panose="02010600030101010101" pitchFamily="2" charset="-122"/>
              </a:rPr>
              <a:t>灿芯股份投资价值分析</a:t>
            </a:r>
            <a:endParaRPr lang="zh-CN" altLang="en-US" b="1" dirty="0">
              <a:latin typeface="宋体" panose="02010600030101010101" pitchFamily="2" charset="-122"/>
              <a:ea typeface="宋体" panose="02010600030101010101" pitchFamily="2" charset="-122"/>
            </a:endParaRPr>
          </a:p>
        </p:txBody>
      </p:sp>
      <p:sp>
        <p:nvSpPr>
          <p:cNvPr id="14" name="文本框 13"/>
          <p:cNvSpPr txBox="1"/>
          <p:nvPr/>
        </p:nvSpPr>
        <p:spPr>
          <a:xfrm>
            <a:off x="224085" y="593846"/>
            <a:ext cx="11648496" cy="923330"/>
          </a:xfrm>
          <a:prstGeom prst="rect">
            <a:avLst/>
          </a:prstGeom>
          <a:noFill/>
        </p:spPr>
        <p:txBody>
          <a:bodyPr wrap="square">
            <a:spAutoFit/>
          </a:bodyPr>
          <a:lstStyle/>
          <a:p>
            <a:pPr marL="285750" indent="-285750">
              <a:buFont typeface="Wingdings" panose="05000000000000000000" pitchFamily="2" charset="2"/>
              <a:buChar char="u"/>
            </a:pPr>
            <a:r>
              <a:rPr lang="zh-CN" altLang="en-US" dirty="0">
                <a:ea typeface="+mn-lt"/>
                <a:cs typeface="+mn-lt"/>
              </a:rPr>
              <a:t>在长期为客户提供芯片设计服务的过程中，公司捕捉到了不同应用领域对于半导体的共性及差异化需求，通过持续研发形成多个平台方案，并以“</a:t>
            </a:r>
            <a:r>
              <a:rPr lang="zh-CN" altLang="en-US" dirty="0">
                <a:solidFill>
                  <a:srgbClr val="C00000"/>
                </a:solidFill>
                <a:ea typeface="+mn-lt"/>
                <a:cs typeface="+mn-lt"/>
              </a:rPr>
              <a:t>标准化方案</a:t>
            </a:r>
            <a:r>
              <a:rPr lang="en-US" altLang="zh-CN" dirty="0">
                <a:solidFill>
                  <a:srgbClr val="C00000"/>
                </a:solidFill>
                <a:ea typeface="+mn-lt"/>
                <a:cs typeface="+mn-lt"/>
              </a:rPr>
              <a:t>+</a:t>
            </a:r>
            <a:r>
              <a:rPr lang="zh-CN" altLang="en-US" dirty="0">
                <a:solidFill>
                  <a:srgbClr val="C00000"/>
                </a:solidFill>
                <a:ea typeface="+mn-lt"/>
                <a:cs typeface="+mn-lt"/>
              </a:rPr>
              <a:t>差异化设计</a:t>
            </a:r>
            <a:r>
              <a:rPr lang="zh-CN" altLang="en-US" dirty="0">
                <a:ea typeface="+mn-lt"/>
                <a:cs typeface="+mn-lt"/>
              </a:rPr>
              <a:t>”的模式，快速满足客户的芯片定制需求，帮助客户提高一次流片成功率并缩短其产品上市时间，商业模式的护城河有望不断加深。</a:t>
            </a:r>
            <a:endParaRPr lang="zh-CN" altLang="en-US" dirty="0">
              <a:ea typeface="+mn-lt"/>
              <a:cs typeface="+mn-lt"/>
            </a:endParaRPr>
          </a:p>
        </p:txBody>
      </p:sp>
      <p:pic>
        <p:nvPicPr>
          <p:cNvPr id="4" name="图片 3"/>
          <p:cNvPicPr>
            <a:picLocks noChangeAspect="1"/>
          </p:cNvPicPr>
          <p:nvPr/>
        </p:nvPicPr>
        <p:blipFill>
          <a:blip r:embed="rId1"/>
          <a:stretch>
            <a:fillRect/>
          </a:stretch>
        </p:blipFill>
        <p:spPr>
          <a:xfrm>
            <a:off x="1350602" y="1883558"/>
            <a:ext cx="9395461" cy="4937827"/>
          </a:xfrm>
          <a:prstGeom prst="rect">
            <a:avLst/>
          </a:prstGeom>
        </p:spPr>
      </p:pic>
      <p:sp>
        <p:nvSpPr>
          <p:cNvPr id="5" name="文本框 4"/>
          <p:cNvSpPr txBox="1"/>
          <p:nvPr/>
        </p:nvSpPr>
        <p:spPr>
          <a:xfrm>
            <a:off x="4180253" y="1526715"/>
            <a:ext cx="3831498" cy="338554"/>
          </a:xfrm>
          <a:prstGeom prst="rect">
            <a:avLst/>
          </a:prstGeom>
          <a:noFill/>
        </p:spPr>
        <p:txBody>
          <a:bodyPr wrap="none" rtlCol="0">
            <a:spAutoFit/>
          </a:bodyPr>
          <a:lstStyle/>
          <a:p>
            <a:pPr algn="ctr"/>
            <a:r>
              <a:rPr lang="zh-CN" altLang="en-US" sz="1600" b="1" dirty="0"/>
              <a:t> 历年研发费用和研发费用率（亿元；</a:t>
            </a:r>
            <a:r>
              <a:rPr lang="en-US" altLang="zh-CN" sz="1600" b="1" dirty="0"/>
              <a:t>%</a:t>
            </a:r>
            <a:r>
              <a:rPr lang="zh-CN" altLang="en-US" sz="1600" b="1" dirty="0"/>
              <a:t>）</a:t>
            </a:r>
            <a:endParaRPr lang="zh-CN" altLang="en-US" sz="1600" b="1"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flipH="1">
            <a:off x="224084" y="159798"/>
            <a:ext cx="7285366" cy="369332"/>
          </a:xfrm>
          <a:prstGeom prst="rect">
            <a:avLst/>
          </a:prstGeom>
          <a:noFill/>
        </p:spPr>
        <p:txBody>
          <a:bodyPr wrap="square" rtlCol="0">
            <a:spAutoFit/>
          </a:bodyPr>
          <a:lstStyle/>
          <a:p>
            <a:r>
              <a:rPr lang="zh-CN" altLang="en-US" b="1" dirty="0">
                <a:latin typeface="宋体" panose="02010600030101010101" pitchFamily="2" charset="-122"/>
                <a:ea typeface="宋体" panose="02010600030101010101" pitchFamily="2" charset="-122"/>
              </a:rPr>
              <a:t>灿芯股份投资价值分析</a:t>
            </a:r>
            <a:endParaRPr lang="zh-CN" altLang="en-US" b="1" dirty="0">
              <a:latin typeface="宋体" panose="02010600030101010101" pitchFamily="2" charset="-122"/>
              <a:ea typeface="宋体" panose="02010600030101010101" pitchFamily="2" charset="-122"/>
            </a:endParaRPr>
          </a:p>
        </p:txBody>
      </p:sp>
      <p:sp>
        <p:nvSpPr>
          <p:cNvPr id="14" name="文本框 13"/>
          <p:cNvSpPr txBox="1"/>
          <p:nvPr/>
        </p:nvSpPr>
        <p:spPr>
          <a:xfrm>
            <a:off x="224085" y="593846"/>
            <a:ext cx="11648496" cy="1200329"/>
          </a:xfrm>
          <a:prstGeom prst="rect">
            <a:avLst/>
          </a:prstGeom>
          <a:noFill/>
        </p:spPr>
        <p:txBody>
          <a:bodyPr wrap="square">
            <a:spAutoFit/>
          </a:bodyPr>
          <a:lstStyle/>
          <a:p>
            <a:pPr marL="285750" indent="-285750">
              <a:buFont typeface="Wingdings" panose="05000000000000000000" pitchFamily="2" charset="2"/>
              <a:buChar char="u"/>
            </a:pPr>
            <a:r>
              <a:rPr lang="zh-CN" altLang="en-US" dirty="0">
                <a:ea typeface="+mn-lt"/>
                <a:cs typeface="+mn-lt"/>
              </a:rPr>
              <a:t>市场已开始发掘灿芯股份的投资价值，但股东减持</a:t>
            </a:r>
            <a:r>
              <a:rPr lang="en-US" altLang="zh-CN" dirty="0">
                <a:ea typeface="+mn-lt"/>
                <a:cs typeface="+mn-lt"/>
              </a:rPr>
              <a:t>IPO</a:t>
            </a:r>
            <a:r>
              <a:rPr lang="zh-CN" altLang="en-US" dirty="0">
                <a:ea typeface="+mn-lt"/>
                <a:cs typeface="+mn-lt"/>
              </a:rPr>
              <a:t>前取得股份，导致股价短期承压。</a:t>
            </a:r>
            <a:endParaRPr lang="en-US" altLang="zh-CN" dirty="0">
              <a:ea typeface="+mn-lt"/>
              <a:cs typeface="+mn-lt"/>
            </a:endParaRPr>
          </a:p>
          <a:p>
            <a:pPr marL="285750" indent="-285750">
              <a:buFont typeface="Wingdings" panose="05000000000000000000" pitchFamily="2" charset="2"/>
              <a:buChar char="u"/>
            </a:pPr>
            <a:r>
              <a:rPr lang="zh-CN" altLang="en-US" dirty="0">
                <a:ea typeface="+mn-lt"/>
                <a:cs typeface="+mn-lt"/>
              </a:rPr>
              <a:t>短期看，</a:t>
            </a:r>
            <a:r>
              <a:rPr lang="en-US" altLang="zh-CN" dirty="0">
                <a:ea typeface="+mn-lt"/>
                <a:cs typeface="+mn-lt"/>
              </a:rPr>
              <a:t>1</a:t>
            </a:r>
            <a:r>
              <a:rPr lang="zh-CN" altLang="en-US" dirty="0">
                <a:ea typeface="+mn-lt"/>
                <a:cs typeface="+mn-lt"/>
              </a:rPr>
              <a:t>月底</a:t>
            </a:r>
            <a:r>
              <a:rPr lang="en-US" altLang="zh-CN" dirty="0">
                <a:ea typeface="+mn-lt"/>
                <a:cs typeface="+mn-lt"/>
              </a:rPr>
              <a:t>2</a:t>
            </a:r>
            <a:r>
              <a:rPr lang="zh-CN" altLang="en-US" dirty="0">
                <a:ea typeface="+mn-lt"/>
                <a:cs typeface="+mn-lt"/>
              </a:rPr>
              <a:t>月初股东减持期接近尾声时，估值会有修复行情，预计可回到前期高点，对应</a:t>
            </a:r>
            <a:r>
              <a:rPr lang="en-US" altLang="zh-CN" dirty="0">
                <a:ea typeface="+mn-lt"/>
                <a:cs typeface="+mn-lt"/>
              </a:rPr>
              <a:t>50%</a:t>
            </a:r>
            <a:r>
              <a:rPr lang="zh-CN" altLang="en-US" dirty="0">
                <a:ea typeface="+mn-lt"/>
                <a:cs typeface="+mn-lt"/>
              </a:rPr>
              <a:t>涨幅和</a:t>
            </a:r>
            <a:r>
              <a:rPr lang="en-US" altLang="zh-CN" dirty="0">
                <a:ea typeface="+mn-lt"/>
                <a:cs typeface="+mn-lt"/>
              </a:rPr>
              <a:t>180</a:t>
            </a:r>
            <a:r>
              <a:rPr lang="zh-CN" altLang="en-US" dirty="0">
                <a:ea typeface="+mn-lt"/>
                <a:cs typeface="+mn-lt"/>
              </a:rPr>
              <a:t>亿市值；中长期看，公司产业链位置独特，商业模式清晰，有望伴随着中芯国际和中国半导体产业而不断成长，参考台湾地区类似商业模式的公司（创意电子、世芯电子）以及国内的芯原股份，市值看到</a:t>
            </a:r>
            <a:r>
              <a:rPr lang="en-US" altLang="zh-CN" dirty="0">
                <a:ea typeface="+mn-lt"/>
                <a:cs typeface="+mn-lt"/>
              </a:rPr>
              <a:t>500</a:t>
            </a:r>
            <a:r>
              <a:rPr lang="zh-CN" altLang="en-US" dirty="0">
                <a:ea typeface="+mn-lt"/>
                <a:cs typeface="+mn-lt"/>
              </a:rPr>
              <a:t>亿，重点推荐！</a:t>
            </a:r>
            <a:endParaRPr lang="zh-CN" altLang="en-US" dirty="0">
              <a:ea typeface="+mn-lt"/>
              <a:cs typeface="+mn-lt"/>
            </a:endParaRPr>
          </a:p>
        </p:txBody>
      </p:sp>
      <p:pic>
        <p:nvPicPr>
          <p:cNvPr id="4" name="图片 3"/>
          <p:cNvPicPr>
            <a:picLocks noChangeAspect="1"/>
          </p:cNvPicPr>
          <p:nvPr/>
        </p:nvPicPr>
        <p:blipFill>
          <a:blip r:embed="rId1"/>
          <a:srcRect l="880" r="-1"/>
          <a:stretch>
            <a:fillRect/>
          </a:stretch>
        </p:blipFill>
        <p:spPr>
          <a:xfrm>
            <a:off x="180037" y="2257269"/>
            <a:ext cx="4889335" cy="4289308"/>
          </a:xfrm>
          <a:prstGeom prst="rect">
            <a:avLst/>
          </a:prstGeom>
        </p:spPr>
      </p:pic>
      <p:sp>
        <p:nvSpPr>
          <p:cNvPr id="5" name="文本框 4"/>
          <p:cNvSpPr txBox="1"/>
          <p:nvPr/>
        </p:nvSpPr>
        <p:spPr>
          <a:xfrm>
            <a:off x="1649117" y="1859846"/>
            <a:ext cx="1951176" cy="338554"/>
          </a:xfrm>
          <a:prstGeom prst="rect">
            <a:avLst/>
          </a:prstGeom>
          <a:noFill/>
        </p:spPr>
        <p:txBody>
          <a:bodyPr wrap="none" rtlCol="0">
            <a:spAutoFit/>
          </a:bodyPr>
          <a:lstStyle/>
          <a:p>
            <a:pPr algn="ctr"/>
            <a:r>
              <a:rPr lang="zh-CN" altLang="en-US" sz="1600" b="1" dirty="0"/>
              <a:t>灿芯股份周</a:t>
            </a:r>
            <a:r>
              <a:rPr lang="en-US" altLang="zh-CN" sz="1600" b="1" dirty="0"/>
              <a:t>K</a:t>
            </a:r>
            <a:r>
              <a:rPr lang="zh-CN" altLang="en-US" sz="1600" b="1" dirty="0"/>
              <a:t>线走势</a:t>
            </a:r>
            <a:endParaRPr lang="zh-CN" altLang="en-US" sz="1600" b="1" dirty="0"/>
          </a:p>
        </p:txBody>
      </p:sp>
      <p:grpSp>
        <p:nvGrpSpPr>
          <p:cNvPr id="9" name="组合 8"/>
          <p:cNvGrpSpPr/>
          <p:nvPr/>
        </p:nvGrpSpPr>
        <p:grpSpPr>
          <a:xfrm>
            <a:off x="5142822" y="2257269"/>
            <a:ext cx="6842417" cy="3335003"/>
            <a:chOff x="5494172" y="2297845"/>
            <a:chExt cx="7940842" cy="3870377"/>
          </a:xfrm>
        </p:grpSpPr>
        <p:pic>
          <p:nvPicPr>
            <p:cNvPr id="7" name="图片 6"/>
            <p:cNvPicPr>
              <a:picLocks noChangeAspect="1"/>
            </p:cNvPicPr>
            <p:nvPr/>
          </p:nvPicPr>
          <p:blipFill>
            <a:blip r:embed="rId2"/>
            <a:srcRect b="63592"/>
            <a:stretch>
              <a:fillRect/>
            </a:stretch>
          </p:blipFill>
          <p:spPr>
            <a:xfrm>
              <a:off x="5494172" y="2297845"/>
              <a:ext cx="7940842" cy="2496833"/>
            </a:xfrm>
            <a:prstGeom prst="rect">
              <a:avLst/>
            </a:prstGeom>
          </p:spPr>
        </p:pic>
        <p:pic>
          <p:nvPicPr>
            <p:cNvPr id="8" name="图片 7"/>
            <p:cNvPicPr>
              <a:picLocks noChangeAspect="1"/>
            </p:cNvPicPr>
            <p:nvPr/>
          </p:nvPicPr>
          <p:blipFill>
            <a:blip r:embed="rId2"/>
            <a:srcRect t="79695" b="1"/>
            <a:stretch>
              <a:fillRect/>
            </a:stretch>
          </p:blipFill>
          <p:spPr>
            <a:xfrm>
              <a:off x="5494172" y="4775726"/>
              <a:ext cx="7940842" cy="1392496"/>
            </a:xfrm>
            <a:prstGeom prst="rect">
              <a:avLst/>
            </a:prstGeom>
          </p:spPr>
        </p:pic>
      </p:grpSp>
      <p:sp>
        <p:nvSpPr>
          <p:cNvPr id="13" name="文本框 12"/>
          <p:cNvSpPr txBox="1"/>
          <p:nvPr/>
        </p:nvSpPr>
        <p:spPr>
          <a:xfrm>
            <a:off x="8906852" y="3351949"/>
            <a:ext cx="3591528" cy="307777"/>
          </a:xfrm>
          <a:prstGeom prst="rect">
            <a:avLst/>
          </a:prstGeom>
          <a:noFill/>
        </p:spPr>
        <p:txBody>
          <a:bodyPr wrap="square">
            <a:spAutoFit/>
          </a:bodyPr>
          <a:lstStyle/>
          <a:p>
            <a:r>
              <a:rPr lang="zh-CN" altLang="en-US" sz="1400" dirty="0">
                <a:solidFill>
                  <a:srgbClr val="C00000"/>
                </a:solidFill>
              </a:rPr>
              <a:t>（另有湖州赟通 </a:t>
            </a:r>
            <a:r>
              <a:rPr lang="en-US" altLang="zh-CN" sz="1400" dirty="0">
                <a:solidFill>
                  <a:srgbClr val="C00000"/>
                </a:solidFill>
              </a:rPr>
              <a:t>0.37%</a:t>
            </a:r>
            <a:r>
              <a:rPr lang="zh-CN" altLang="en-US" sz="1400" dirty="0">
                <a:solidFill>
                  <a:srgbClr val="C00000"/>
                </a:solidFill>
              </a:rPr>
              <a:t>，海通创新 </a:t>
            </a:r>
            <a:r>
              <a:rPr lang="en-US" altLang="zh-CN" sz="1400" dirty="0">
                <a:solidFill>
                  <a:srgbClr val="C00000"/>
                </a:solidFill>
              </a:rPr>
              <a:t>0.38% </a:t>
            </a:r>
            <a:r>
              <a:rPr lang="zh-CN" altLang="en-US" sz="1400" dirty="0">
                <a:solidFill>
                  <a:srgbClr val="C00000"/>
                </a:solidFill>
              </a:rPr>
              <a:t>）</a:t>
            </a:r>
            <a:endParaRPr lang="zh-CN" altLang="en-US" sz="1400" dirty="0">
              <a:solidFill>
                <a:srgbClr val="C00000"/>
              </a:solidFill>
            </a:endParaRPr>
          </a:p>
        </p:txBody>
      </p:sp>
      <p:sp>
        <p:nvSpPr>
          <p:cNvPr id="15" name="文本框 14"/>
          <p:cNvSpPr txBox="1"/>
          <p:nvPr/>
        </p:nvSpPr>
        <p:spPr>
          <a:xfrm>
            <a:off x="6773139" y="1853044"/>
            <a:ext cx="3329758" cy="338554"/>
          </a:xfrm>
          <a:prstGeom prst="rect">
            <a:avLst/>
          </a:prstGeom>
          <a:noFill/>
        </p:spPr>
        <p:txBody>
          <a:bodyPr wrap="none" rtlCol="0">
            <a:spAutoFit/>
          </a:bodyPr>
          <a:lstStyle/>
          <a:p>
            <a:pPr algn="ctr"/>
            <a:r>
              <a:rPr lang="en-US" altLang="zh-CN" sz="1600" b="1" dirty="0"/>
              <a:t>25</a:t>
            </a:r>
            <a:r>
              <a:rPr lang="zh-CN" altLang="en-US" sz="1600" b="1" dirty="0"/>
              <a:t>年</a:t>
            </a:r>
            <a:r>
              <a:rPr lang="en-US" altLang="zh-CN" sz="1600" b="1" dirty="0"/>
              <a:t>10</a:t>
            </a:r>
            <a:r>
              <a:rPr lang="zh-CN" altLang="en-US" sz="1600" b="1" dirty="0"/>
              <a:t>月</a:t>
            </a:r>
            <a:r>
              <a:rPr lang="en-US" altLang="zh-CN" sz="1600" b="1" dirty="0"/>
              <a:t>17</a:t>
            </a:r>
            <a:r>
              <a:rPr lang="zh-CN" altLang="en-US" sz="1600" b="1" dirty="0"/>
              <a:t>日公告的股东减持计划</a:t>
            </a:r>
            <a:endParaRPr lang="zh-CN" altLang="en-US" sz="1600" b="1"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flipH="1">
            <a:off x="3642396" y="3075057"/>
            <a:ext cx="4907207" cy="707886"/>
          </a:xfrm>
          <a:prstGeom prst="rect">
            <a:avLst/>
          </a:prstGeom>
          <a:noFill/>
        </p:spPr>
        <p:txBody>
          <a:bodyPr wrap="square" rtlCol="0">
            <a:spAutoFit/>
          </a:bodyPr>
          <a:lstStyle/>
          <a:p>
            <a:pPr algn="ctr"/>
            <a:r>
              <a:rPr lang="en-US" altLang="zh-CN" sz="4000" b="1" dirty="0">
                <a:latin typeface="宋体" panose="02010600030101010101" pitchFamily="2" charset="-122"/>
                <a:ea typeface="宋体" panose="02010600030101010101" pitchFamily="2" charset="-122"/>
              </a:rPr>
              <a:t>END</a:t>
            </a:r>
            <a:endParaRPr lang="zh-CN" altLang="en-US" sz="4000" b="1" dirty="0">
              <a:latin typeface="宋体" panose="02010600030101010101" pitchFamily="2" charset="-122"/>
              <a:ea typeface="宋体" panose="02010600030101010101" pitchFamily="2" charset="-122"/>
            </a:endParaRPr>
          </a:p>
        </p:txBody>
      </p:sp>
    </p:spTree>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4428</Words>
  <Application>WPS 演示</Application>
  <PresentationFormat>宽屏</PresentationFormat>
  <Paragraphs>313</Paragraphs>
  <Slides>27</Slides>
  <Notes>0</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27</vt:i4>
      </vt:variant>
    </vt:vector>
  </HeadingPairs>
  <TitlesOfParts>
    <vt:vector size="37" baseType="lpstr">
      <vt:lpstr>Arial</vt:lpstr>
      <vt:lpstr>宋体</vt:lpstr>
      <vt:lpstr>Wingdings</vt:lpstr>
      <vt:lpstr>楷体</vt:lpstr>
      <vt:lpstr>Times New Roman</vt:lpstr>
      <vt:lpstr>等线</vt:lpstr>
      <vt:lpstr>微软雅黑</vt:lpstr>
      <vt:lpstr>Arial Unicode MS</vt:lpstr>
      <vt:lpstr>等线 Light</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zoujun2513@qq.com</dc:creator>
  <cp:lastModifiedBy>陈治翰</cp:lastModifiedBy>
  <cp:revision>8301</cp:revision>
  <dcterms:created xsi:type="dcterms:W3CDTF">2021-05-27T02:13:00Z</dcterms:created>
  <dcterms:modified xsi:type="dcterms:W3CDTF">2026-08-19T02:49:27Z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BC2FD7AD3BE94758913C1BEF96B518C6_12</vt:lpwstr>
  </property>
  <property fmtid="{D5CDD505-2E9C-101B-9397-08002B2CF9AE}" pid="3" name="KSOProductBuildVer">
    <vt:lpwstr>2052-12.1.0.23542</vt:lpwstr>
  </property>
</Properties>
</file>